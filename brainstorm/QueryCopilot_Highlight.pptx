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147481535" r:id="rId2"/>
    <p:sldId id="2147481536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256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7200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B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76072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42976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QUERY COPILOT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457200" y="117043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→ SQL Data Request Assistant for WSD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993392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experts hand-write SQL against zDB, gDB, WUDAS, and TUDAS. Slow, requires SQL literacy, and funnels every request through whoever can write the query.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57200" y="3063240"/>
            <a:ext cx="54864" cy="1280160"/>
          </a:xfrm>
          <a:prstGeom prst="rect">
            <a:avLst/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30632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0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SAFETY UPGRADE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3319272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isn't “read the SQL” — it's a capped sandbox trial run. Requestors judge real sample rows, far more reliably than spotting a wrong JOIN.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4526280"/>
            <a:ext cx="54864" cy="868680"/>
          </a:xfrm>
          <a:prstGeom prst="rect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" y="45262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CONSOLIDATION UMBRELLA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7823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proven, overlapping tools plug in later as menu entries — rolled out one domain at a time.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562356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3B4652"/>
          </a:solidFill>
          <a:ln w="9525">
            <a:solidFill>
              <a:srgbClr val="009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58368" y="574243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05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Brainstorming — v1 direction confirmed 2026-08-30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0" y="3657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— RECOMMENDED V1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4572000" y="749808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+ Asset-Menu (API + Library) matching — not free-form SQL or fine-tuning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572000" y="1234440"/>
            <a:ext cx="1627632" cy="1874520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3B46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5129784" y="1399032"/>
            <a:ext cx="512064" cy="512064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1508760"/>
            <a:ext cx="292608" cy="29260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663440" y="20116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in Plain English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4681728" y="2441448"/>
            <a:ext cx="1408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describes the data need in natural language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6204204" y="1970532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6364224" y="1234440"/>
            <a:ext cx="1627632" cy="1874520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3B46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6922008" y="1399032"/>
            <a:ext cx="512064" cy="512064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1736" y="1508760"/>
            <a:ext cx="292608" cy="292608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455664" y="20116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 Asset Menu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6473952" y="2441448"/>
            <a:ext cx="1408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menu of templates, APIs, and catalogued libraries (~20–30 entries today)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7996428" y="1970532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31" name="Shape 26"/>
          <p:cNvSpPr/>
          <p:nvPr/>
        </p:nvSpPr>
        <p:spPr>
          <a:xfrm>
            <a:off x="8156448" y="1234440"/>
            <a:ext cx="1627632" cy="1874520"/>
          </a:xfrm>
          <a:prstGeom prst="roundRect">
            <a:avLst>
              <a:gd name="adj" fmla="val 5056"/>
            </a:avLst>
          </a:prstGeom>
          <a:solidFill>
            <a:srgbClr val="007B8C"/>
          </a:solidFill>
          <a:ln/>
          <a:effectLst>
            <a:outerShdw blurRad="88900" dist="25400" dir="5400000" algn="bl" rotWithShape="0">
              <a:srgbClr val="3B46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7"/>
          <p:cNvSpPr/>
          <p:nvPr/>
        </p:nvSpPr>
        <p:spPr>
          <a:xfrm>
            <a:off x="8714232" y="1399032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1508760"/>
            <a:ext cx="292608" cy="29260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8247888" y="20116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 Trial Run</a:t>
            </a:r>
            <a:endParaRPr lang="en-US" sz="1300" dirty="0"/>
          </a:p>
        </p:txBody>
      </p:sp>
      <p:sp>
        <p:nvSpPr>
          <p:cNvPr id="35" name="Text 29"/>
          <p:cNvSpPr/>
          <p:nvPr/>
        </p:nvSpPr>
        <p:spPr>
          <a:xfrm>
            <a:off x="8266176" y="2441448"/>
            <a:ext cx="1408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Capped rows / size / frequency — see real sample results before trusting it</a:t>
            </a:r>
            <a:endParaRPr lang="en-US" sz="950" dirty="0"/>
          </a:p>
        </p:txBody>
      </p:sp>
      <p:sp>
        <p:nvSpPr>
          <p:cNvPr id="36" name="Text 30"/>
          <p:cNvSpPr/>
          <p:nvPr/>
        </p:nvSpPr>
        <p:spPr>
          <a:xfrm>
            <a:off x="9788652" y="1970532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37" name="Shape 31"/>
          <p:cNvSpPr/>
          <p:nvPr/>
        </p:nvSpPr>
        <p:spPr>
          <a:xfrm>
            <a:off x="9948672" y="1234440"/>
            <a:ext cx="1627632" cy="1874520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3B46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2"/>
          <p:cNvSpPr/>
          <p:nvPr/>
        </p:nvSpPr>
        <p:spPr>
          <a:xfrm>
            <a:off x="10506456" y="1399032"/>
            <a:ext cx="512064" cy="512064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6184" y="1508760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10040112" y="20116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Execution</a:t>
            </a:r>
            <a:endParaRPr lang="en-US" sz="1300" dirty="0"/>
          </a:p>
        </p:txBody>
      </p:sp>
      <p:sp>
        <p:nvSpPr>
          <p:cNvPr id="41" name="Text 34"/>
          <p:cNvSpPr/>
          <p:nvPr/>
        </p:nvSpPr>
        <p:spPr>
          <a:xfrm>
            <a:off x="10058400" y="2441448"/>
            <a:ext cx="1408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Requestor confirms → full query runs against production data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4572000" y="3429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6"/>
          <p:cNvSpPr/>
          <p:nvPr/>
        </p:nvSpPr>
        <p:spPr>
          <a:xfrm>
            <a:off x="4709160" y="35387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 Menu</a:t>
            </a:r>
            <a:endParaRPr lang="en-US" sz="2000" dirty="0"/>
          </a:p>
        </p:txBody>
      </p:sp>
      <p:sp>
        <p:nvSpPr>
          <p:cNvPr id="44" name="Text 37"/>
          <p:cNvSpPr/>
          <p:nvPr/>
        </p:nvSpPr>
        <p:spPr>
          <a:xfrm>
            <a:off x="4736592" y="4050792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 + APIs + catalogued Libraries share one metadata schema</a:t>
            </a:r>
            <a:endParaRPr lang="en-US" sz="1050" dirty="0"/>
          </a:p>
        </p:txBody>
      </p:sp>
      <p:sp>
        <p:nvSpPr>
          <p:cNvPr id="45" name="Shape 38"/>
          <p:cNvSpPr/>
          <p:nvPr/>
        </p:nvSpPr>
        <p:spPr>
          <a:xfrm>
            <a:off x="7040880" y="3429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9"/>
          <p:cNvSpPr/>
          <p:nvPr/>
        </p:nvSpPr>
        <p:spPr>
          <a:xfrm>
            <a:off x="7178040" y="35387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1000+</a:t>
            </a:r>
            <a:endParaRPr lang="en-US" sz="3000" dirty="0"/>
          </a:p>
        </p:txBody>
      </p:sp>
      <p:sp>
        <p:nvSpPr>
          <p:cNvPr id="47" name="Text 40"/>
          <p:cNvSpPr/>
          <p:nvPr/>
        </p:nvSpPr>
        <p:spPr>
          <a:xfrm>
            <a:off x="7205472" y="4050792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world queries being compiled as the template corpus</a:t>
            </a:r>
            <a:endParaRPr lang="en-US" sz="1050" dirty="0"/>
          </a:p>
        </p:txBody>
      </p:sp>
      <p:sp>
        <p:nvSpPr>
          <p:cNvPr id="48" name="Shape 41"/>
          <p:cNvSpPr/>
          <p:nvPr/>
        </p:nvSpPr>
        <p:spPr>
          <a:xfrm>
            <a:off x="9509760" y="3429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2"/>
          <p:cNvSpPr/>
          <p:nvPr/>
        </p:nvSpPr>
        <p:spPr>
          <a:xfrm>
            <a:off x="9646920" y="35387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 Only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9674352" y="4050792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cloud LLM — GTO's internal-agent routing rule applies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4572000" y="5029200"/>
            <a:ext cx="7223760" cy="1417320"/>
          </a:xfrm>
          <a:prstGeom prst="rect">
            <a:avLst/>
          </a:prstGeom>
          <a:solidFill>
            <a:srgbClr val="EEEF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0600" y="5193792"/>
            <a:ext cx="365760" cy="365760"/>
          </a:xfrm>
          <a:prstGeom prst="rect">
            <a:avLst/>
          </a:prstGeom>
        </p:spPr>
      </p:pic>
      <p:sp>
        <p:nvSpPr>
          <p:cNvPr id="53" name="Text 45"/>
          <p:cNvSpPr/>
          <p:nvPr/>
        </p:nvSpPr>
        <p:spPr>
          <a:xfrm>
            <a:off x="5285232" y="5166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ACTIONS</a:t>
            </a:r>
            <a:endParaRPr lang="en-US" sz="1250" dirty="0"/>
          </a:p>
        </p:txBody>
      </p:sp>
      <p:sp>
        <p:nvSpPr>
          <p:cNvPr id="54" name="Text 46"/>
          <p:cNvSpPr/>
          <p:nvPr/>
        </p:nvSpPr>
        <p:spPr>
          <a:xfrm>
            <a:off x="4800600" y="5596128"/>
            <a:ext cx="6766560" cy="425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▸"/>
            </a:pPr>
            <a:r>
              <a:rPr lang="en-US" sz="11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100+ example query corpus from real support tickets — no dependencies, start now</a:t>
            </a:r>
            <a:endParaRPr lang="en-US" sz="1100" dirty="0"/>
          </a:p>
          <a:p>
            <a:pPr marL="342900" indent="-342900">
              <a:lnSpc>
                <a:spcPct val="108000"/>
              </a:lnSpc>
              <a:buSzPct val="100000"/>
              <a:buChar char="▸"/>
            </a:pPr>
            <a:r>
              <a:rPr lang="en-US" sz="11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Asset Menu: catalog Libraries (with metadata) + APIs (with signatures) into one shared schema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B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576072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42976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PLAN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457200" y="117043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Agent-Native Asset Menu Consumption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CONSTRAINT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993392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GTO permits only on-prem Vectara RAG deployment. Approved models sit well below Claude/ChatGPT-class accuracy — why v1 keeps the LLM narrow.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57200" y="3063240"/>
            <a:ext cx="54864" cy="1280160"/>
          </a:xfrm>
          <a:prstGeom prst="rect">
            <a:avLst/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30632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0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SHIFT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3319272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the gap closes, the Asset Menu's metadata schema doubles as a tool schema — the Agent plans and chains its own calls, not one-shot matching.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4526280"/>
            <a:ext cx="54864" cy="868680"/>
          </a:xfrm>
          <a:prstGeom prst="rect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" y="45262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MUST NOT CHANGE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7823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sandbox trial-run + human-confirmation gate stays mandatory, no matter how capable the model gets.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562356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3B4652"/>
          </a:solidFill>
          <a:ln w="9525">
            <a:solidFill>
              <a:srgbClr val="009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58368" y="574243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05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direction — not scheduled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0" y="3657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— LONG-TERM PLAN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4572000" y="749808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consumes the Asset Menu directly as callable tools — not yet scheduled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762500" y="1234440"/>
            <a:ext cx="3048000" cy="1874520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3B46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6030468" y="1399032"/>
            <a:ext cx="512064" cy="512064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196" y="1508760"/>
            <a:ext cx="292608" cy="29260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945380" y="2011680"/>
            <a:ext cx="268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Constrained NL-Classifier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4945380" y="2441448"/>
            <a:ext cx="268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one template, extract a few parameters — today's narrow, low-risk scope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8068056" y="1970532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8481060" y="1234440"/>
            <a:ext cx="3048000" cy="1874520"/>
          </a:xfrm>
          <a:prstGeom prst="roundRect">
            <a:avLst>
              <a:gd name="adj" fmla="val 5056"/>
            </a:avLst>
          </a:prstGeom>
          <a:solidFill>
            <a:srgbClr val="007B8C"/>
          </a:solidFill>
          <a:ln/>
          <a:effectLst>
            <a:outerShdw blurRad="88900" dist="25400" dir="5400000" algn="bl" rotWithShape="0">
              <a:srgbClr val="3B46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9749028" y="1399032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8756" y="1508760"/>
            <a:ext cx="292608" cy="292608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8663940" y="2011680"/>
            <a:ext cx="268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Tool-Using Agent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8663940" y="2441448"/>
            <a:ext cx="268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and chains its own calls across the Asset Menu — once the accuracy gap closes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4572000" y="3429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6"/>
          <p:cNvSpPr/>
          <p:nvPr/>
        </p:nvSpPr>
        <p:spPr>
          <a:xfrm>
            <a:off x="4709160" y="35387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GTO Policy</a:t>
            </a:r>
            <a:endParaRPr lang="en-US" sz="2000" dirty="0"/>
          </a:p>
        </p:txBody>
      </p:sp>
      <p:sp>
        <p:nvSpPr>
          <p:cNvPr id="44" name="Text 37"/>
          <p:cNvSpPr/>
          <p:nvPr/>
        </p:nvSpPr>
        <p:spPr>
          <a:xfrm>
            <a:off x="4736592" y="4050792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GTO revisits internal routing, or on-prem models close the accuracy gap</a:t>
            </a:r>
            <a:endParaRPr lang="en-US" sz="1050" dirty="0"/>
          </a:p>
        </p:txBody>
      </p:sp>
      <p:sp>
        <p:nvSpPr>
          <p:cNvPr id="45" name="Shape 38"/>
          <p:cNvSpPr/>
          <p:nvPr/>
        </p:nvSpPr>
        <p:spPr>
          <a:xfrm>
            <a:off x="7040880" y="3429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9"/>
          <p:cNvSpPr/>
          <p:nvPr/>
        </p:nvSpPr>
        <p:spPr>
          <a:xfrm>
            <a:off x="7178040" y="35387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Maverick</a:t>
            </a:r>
            <a:endParaRPr lang="en-US" sz="3000" dirty="0"/>
          </a:p>
        </p:txBody>
      </p:sp>
      <p:sp>
        <p:nvSpPr>
          <p:cNvPr id="47" name="Text 40"/>
          <p:cNvSpPr/>
          <p:nvPr/>
        </p:nvSpPr>
        <p:spPr>
          <a:xfrm>
            <a:off x="7205472" y="4050792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Matures past its current Die Inventory Agent pilot to support tool-chaining</a:t>
            </a:r>
            <a:endParaRPr lang="en-US" sz="1050" dirty="0"/>
          </a:p>
        </p:txBody>
      </p:sp>
      <p:sp>
        <p:nvSpPr>
          <p:cNvPr id="48" name="Shape 41"/>
          <p:cNvSpPr/>
          <p:nvPr/>
        </p:nvSpPr>
        <p:spPr>
          <a:xfrm>
            <a:off x="9509760" y="3429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2"/>
          <p:cNvSpPr/>
          <p:nvPr/>
        </p:nvSpPr>
        <p:spPr>
          <a:xfrm>
            <a:off x="9646920" y="35387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Corpus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9674352" y="4050792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Confirmed-query corpus, large enough to regression-test a wider agent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4572000" y="5029200"/>
            <a:ext cx="7223760" cy="1417320"/>
          </a:xfrm>
          <a:prstGeom prst="rect">
            <a:avLst/>
          </a:prstGeom>
          <a:solidFill>
            <a:srgbClr val="EEEF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5193792"/>
            <a:ext cx="365760" cy="365760"/>
          </a:xfrm>
          <a:prstGeom prst="rect">
            <a:avLst/>
          </a:prstGeom>
        </p:spPr>
      </p:pic>
      <p:sp>
        <p:nvSpPr>
          <p:cNvPr id="53" name="Text 45"/>
          <p:cNvSpPr/>
          <p:nvPr/>
        </p:nvSpPr>
        <p:spPr>
          <a:xfrm>
            <a:off x="5285232" y="5166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V1/V2 DEPENDENCY</a:t>
            </a:r>
            <a:endParaRPr lang="en-US" sz="1250" dirty="0"/>
          </a:p>
        </p:txBody>
      </p:sp>
      <p:sp>
        <p:nvSpPr>
          <p:cNvPr id="54" name="Text 46"/>
          <p:cNvSpPr/>
          <p:nvPr/>
        </p:nvSpPr>
        <p:spPr>
          <a:xfrm>
            <a:off x="4800600" y="5596128"/>
            <a:ext cx="6766560" cy="425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▸"/>
            </a:pPr>
            <a:r>
              <a:rPr lang="en-US" sz="11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the Asset Menu's metadata schema tool-call-ready now</a:t>
            </a:r>
            <a:endParaRPr lang="en-US" sz="1100" dirty="0"/>
          </a:p>
          <a:p>
            <a:pPr marL="342900" indent="-342900">
              <a:lnSpc>
                <a:spcPct val="108000"/>
              </a:lnSpc>
              <a:buSzPct val="100000"/>
              <a:buChar char="▸"/>
            </a:pPr>
            <a:r>
              <a:rPr lang="en-US" sz="11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acts on it until GTO policy or on-prem model accuracy actually closes the gap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477</Words>
  <Application>Microsoft Office PowerPoint</Application>
  <PresentationFormat>Widescreen</PresentationFormat>
  <Paragraphs>59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Query Copilot Highlight</dc:title>
  <dc:subject>PptxGenJS Presentation</dc:subject>
  <dc:creator>Yu Han</dc:creator>
  <cp:lastModifiedBy>Yu Han</cp:lastModifiedBy>
  <cp:revision>4</cp:revision>
  <dcterms:created xsi:type="dcterms:W3CDTF">2026-08-29T23:00:28Z</dcterms:created>
  <dcterms:modified xsi:type="dcterms:W3CDTF">2026-08-30T08:58:54Z</dcterms:modified>
</cp:coreProperties>
</file>