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13"/>
    <p:sldId id="263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  <Relationship Id="rId13" Type="http://schemas.openxmlformats.org/officeDocument/2006/relationships/slide" Target="slides/slide7.xml"/>
  <Relationship Id="rId14" Type="http://schemas.openxmlformats.org/officeDocument/2006/relationships/slide" Target="slides/slide8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01189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1.png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
<Relationships xmlns="http://schemas.openxmlformats.org/package/2006/relationships"><Relationship Id="rId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Natural-language access to WSD's data platform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experts hand-write SQL-style queries against the metadata DB, S3, and gDB — each with its own schema, field encodings, and composite identifier formats.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209544"/>
            <a:ext cx="54864" cy="1078992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2095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VALUE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465576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 stakeholder asks in plain English and gets a governed, safe pull in minutes — not a faster way to write SQL, a way to not need to.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425696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4256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NOW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681728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years of query history show the requests aren't novel — they collapse into a small, known catalog. That's what makes this tractable.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Proposal — v1 design, Sep 2026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 vs FUTURE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tribal-knowledge SQL to a governed natural-language request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underlying APIs and data — the bottleneck being removed is who can ask.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067044" y="1755648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772" y="186537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6451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Today: Hours to Days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6451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Requests queue behind whoever can write SQL; the knowledge lives in a few people's heads, not in any document.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0741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82296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97246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4372" y="1865376"/>
            <a:ext cx="292608" cy="29260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027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Co-Pilot: Minutes, Self-Serve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83027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asks in English; a capped sandbox run shows real sample rows before anything touches production.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4572000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4709160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40,000+</a:t>
            </a:r>
            <a:endParaRPr lang="en-US" sz="1800" dirty="0"/>
          </a:p>
        </p:txBody>
      </p:sp>
      <p:sp>
        <p:nvSpPr>
          <p:cNvPr id="33" name="Text 28"/>
          <p:cNvSpPr/>
          <p:nvPr/>
        </p:nvSpPr>
        <p:spPr>
          <a:xfrm>
            <a:off x="4709160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historical queries mined across 7 years of logs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019544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7156704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~100+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7156704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v1 catalog entries — not full 40k coverage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467088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9604248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9604248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net-new data migration — reuses existing APIs as-is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572000" y="4837176"/>
            <a:ext cx="7159752" cy="160020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910328"/>
            <a:ext cx="329184" cy="329184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0368" y="4892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TRACTABLE NOW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4773168" y="5294376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Deduplicating 7 years of query logs shows a small, finite set of business intents repeats over and over. That turns “understand any business question” (a research problem) into “classify into a known set of intents” (an engineering problem). “v1” means exactly that curated catalog — the first shippable scope, not full coverage of every historical variant.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it work: one request, stage by stage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 — TODAY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hand-written line, produced by someone who already knows the schema. Hours to days of wait, and nobody else can tell how it was derived.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017520"/>
            <a:ext cx="54864" cy="1078992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17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— WITH CO-PILOT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273552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query comes out the other end — but every stage in between is now a visible, inspectable artifact, not one opaque hand-written line.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MATTERS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something's wrong, you can see exactly which stage produced the wrong value — instead of debugging one line with no trace of how it was built.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Illustrative example — real domain, real query shape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 vs POST — ONE REQUEST, STAGE BY STAGE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“Show me OQA test lots for AFEM-8234-AP1 closed since Jan 2026.”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373880" y="6281928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 request, same final query text — every step in between is now visible.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960120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572000" y="960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56048" y="941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NL Request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720072" y="9418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Input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0" y="1271016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09160" y="1271016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"Show me OQA test lots for AFEM-8234-AP1 closed since Jan 2026"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0" y="173736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0" y="1847088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56048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Domain Classify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720072" y="1828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0" y="2157984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709160" y="215798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domain = "be-module"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0" y="2624328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0" y="2734056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572000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956048" y="27157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Template Match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720072" y="27157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572000" y="3044952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709160" y="3044952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template = "lot_by_product_test_date"   (be-module domain)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572000" y="3511296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3621024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457200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4956048" y="36027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Parameter Extraction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9720072" y="3602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0" y="3931920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709160" y="3931920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product: "AFEM-8234-AP1", test_type: "OQA", since: "2026-01-01" }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72000" y="43982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572000" y="4507992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572000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56048" y="44897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Deterministic Assembly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9720072" y="44897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4572000" y="4818888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709160" y="4818888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select * from lot where productname like ('AFEM-8234-AP1%')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572000" y="528523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572000" y="5394960"/>
            <a:ext cx="292608" cy="292608"/>
          </a:xfrm>
          <a:prstGeom prst="ellipse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4572000" y="5394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4956048" y="5376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Sandbox Run → Confirm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9720072" y="53766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Gate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572000" y="5705856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4709160" y="5705856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Capped run (≤20 rows) → requestor reviews sample → confirms → full execution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pipeline behind every “3 of 9” reference in this deck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THIS COMES FROM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Nine discrete steps, derived from the architecture discussion in the project design doc. This page is the source — not a cross-reference to it.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017520"/>
            <a:ext cx="54864" cy="1078992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17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TO READ IT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273552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row (cyan) = the 3 steps that touch a model. Both rows below (white) = the 6 steps that are pure deterministic software.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other slide's LLM/deterministic split points back to this map — if a claim elsewhere says “3 of 9,” this is what it's counting.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Reference — full pipeline detail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9-STEP PIPELINE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natural-language request, nine discrete, inspectable steps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touch a model (top row). 6 are deterministic software (below).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05156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4681728" y="1161288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4681728" y="116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5029200" y="114300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Domain Classify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4681728" y="161848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681728" y="183794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request → one of 5-10 known domains.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7019544" y="105156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4"/>
          <p:cNvSpPr/>
          <p:nvPr/>
        </p:nvSpPr>
        <p:spPr>
          <a:xfrm>
            <a:off x="7129272" y="1161288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129272" y="116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76744" y="114300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Template Match</a:t>
            </a:r>
            <a:endParaRPr lang="en-US" sz="1150" dirty="0"/>
          </a:p>
        </p:txBody>
      </p:sp>
      <p:sp>
        <p:nvSpPr>
          <p:cNvPr id="30" name="Text 27"/>
          <p:cNvSpPr/>
          <p:nvPr/>
        </p:nvSpPr>
        <p:spPr>
          <a:xfrm>
            <a:off x="7129272" y="161848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7129272" y="183794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against known catalog entries in that domain.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9467088" y="105156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30"/>
          <p:cNvSpPr/>
          <p:nvPr/>
        </p:nvSpPr>
        <p:spPr>
          <a:xfrm>
            <a:off x="9576816" y="1161288"/>
            <a:ext cx="292608" cy="292608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4" name="Text 31"/>
          <p:cNvSpPr/>
          <p:nvPr/>
        </p:nvSpPr>
        <p:spPr>
          <a:xfrm>
            <a:off x="9576816" y="11612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9924288" y="114300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Parameter Extraction</a:t>
            </a:r>
            <a:endParaRPr lang="en-US" sz="1150" dirty="0"/>
          </a:p>
        </p:txBody>
      </p:sp>
      <p:sp>
        <p:nvSpPr>
          <p:cNvPr id="36" name="Text 33"/>
          <p:cNvSpPr/>
          <p:nvPr/>
        </p:nvSpPr>
        <p:spPr>
          <a:xfrm>
            <a:off x="9576816" y="161848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</a:t>
            </a:r>
            <a:endParaRPr lang="en-US" sz="900" dirty="0"/>
          </a:p>
        </p:txBody>
      </p:sp>
      <p:sp>
        <p:nvSpPr>
          <p:cNvPr id="37" name="Text 34"/>
          <p:cNvSpPr/>
          <p:nvPr/>
        </p:nvSpPr>
        <p:spPr>
          <a:xfrm>
            <a:off x="9576816" y="183794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stated values — dates, product, lot ID.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4572000" y="291084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6"/>
          <p:cNvSpPr/>
          <p:nvPr/>
        </p:nvSpPr>
        <p:spPr>
          <a:xfrm>
            <a:off x="4681728" y="302056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0" name="Text 37"/>
          <p:cNvSpPr/>
          <p:nvPr/>
        </p:nvSpPr>
        <p:spPr>
          <a:xfrm>
            <a:off x="4681728" y="3020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5029200" y="300228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Composite ID Resolution</a:t>
            </a:r>
            <a:endParaRPr lang="en-US" sz="1150" dirty="0"/>
          </a:p>
        </p:txBody>
      </p:sp>
      <p:sp>
        <p:nvSpPr>
          <p:cNvPr id="42" name="Text 39"/>
          <p:cNvSpPr/>
          <p:nvPr/>
        </p:nvSpPr>
        <p:spPr>
          <a:xfrm>
            <a:off x="4681728" y="347776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43" name="Text 40"/>
          <p:cNvSpPr/>
          <p:nvPr/>
        </p:nvSpPr>
        <p:spPr>
          <a:xfrm>
            <a:off x="4681728" y="369722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Assemble filenames/patterns from parts — never LLM.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7019544" y="291084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Shape 42"/>
          <p:cNvSpPr/>
          <p:nvPr/>
        </p:nvSpPr>
        <p:spPr>
          <a:xfrm>
            <a:off x="7129272" y="302056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7129272" y="3020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47" name="Text 44"/>
          <p:cNvSpPr/>
          <p:nvPr/>
        </p:nvSpPr>
        <p:spPr>
          <a:xfrm>
            <a:off x="7476744" y="300228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Multi-Step Chaining</a:t>
            </a:r>
            <a:endParaRPr lang="en-US" sz="1150" dirty="0"/>
          </a:p>
        </p:txBody>
      </p:sp>
      <p:sp>
        <p:nvSpPr>
          <p:cNvPr id="48" name="Text 45"/>
          <p:cNvSpPr/>
          <p:nvPr/>
        </p:nvSpPr>
        <p:spPr>
          <a:xfrm>
            <a:off x="7129272" y="347776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49" name="Text 46"/>
          <p:cNvSpPr/>
          <p:nvPr/>
        </p:nvSpPr>
        <p:spPr>
          <a:xfrm>
            <a:off x="7129272" y="369722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Sequential ID hand-off between calls, where needed.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9467088" y="291084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1" name="Shape 48"/>
          <p:cNvSpPr/>
          <p:nvPr/>
        </p:nvSpPr>
        <p:spPr>
          <a:xfrm>
            <a:off x="9576816" y="302056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2" name="Text 49"/>
          <p:cNvSpPr/>
          <p:nvPr/>
        </p:nvSpPr>
        <p:spPr>
          <a:xfrm>
            <a:off x="9576816" y="302056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9924288" y="300228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Query Assembly</a:t>
            </a:r>
            <a:endParaRPr lang="en-US" sz="1150" dirty="0"/>
          </a:p>
        </p:txBody>
      </p:sp>
      <p:sp>
        <p:nvSpPr>
          <p:cNvPr id="54" name="Text 51"/>
          <p:cNvSpPr/>
          <p:nvPr/>
        </p:nvSpPr>
        <p:spPr>
          <a:xfrm>
            <a:off x="9576816" y="347776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55" name="Text 52"/>
          <p:cNvSpPr/>
          <p:nvPr/>
        </p:nvSpPr>
        <p:spPr>
          <a:xfrm>
            <a:off x="9576816" y="369722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Compile wildcards, IN-lists, date formats.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4572000" y="477012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7" name="Shape 54"/>
          <p:cNvSpPr/>
          <p:nvPr/>
        </p:nvSpPr>
        <p:spPr>
          <a:xfrm>
            <a:off x="4681728" y="487984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8" name="Text 55"/>
          <p:cNvSpPr/>
          <p:nvPr/>
        </p:nvSpPr>
        <p:spPr>
          <a:xfrm>
            <a:off x="4681728" y="487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59" name="Text 56"/>
          <p:cNvSpPr/>
          <p:nvPr/>
        </p:nvSpPr>
        <p:spPr>
          <a:xfrm>
            <a:off x="5029200" y="486156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Sandbox Run</a:t>
            </a:r>
            <a:endParaRPr lang="en-US" sz="1150" dirty="0"/>
          </a:p>
        </p:txBody>
      </p:sp>
      <p:sp>
        <p:nvSpPr>
          <p:cNvPr id="60" name="Text 57"/>
          <p:cNvSpPr/>
          <p:nvPr/>
        </p:nvSpPr>
        <p:spPr>
          <a:xfrm>
            <a:off x="4681728" y="533704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1" name="Text 58"/>
          <p:cNvSpPr/>
          <p:nvPr/>
        </p:nvSpPr>
        <p:spPr>
          <a:xfrm>
            <a:off x="4681728" y="555650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Capped rows/size — nothing real runs yet.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7019544" y="477012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3" name="Shape 60"/>
          <p:cNvSpPr/>
          <p:nvPr/>
        </p:nvSpPr>
        <p:spPr>
          <a:xfrm>
            <a:off x="7129272" y="487984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4" name="Text 61"/>
          <p:cNvSpPr/>
          <p:nvPr/>
        </p:nvSpPr>
        <p:spPr>
          <a:xfrm>
            <a:off x="7129272" y="487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5" name="Text 62"/>
          <p:cNvSpPr/>
          <p:nvPr/>
        </p:nvSpPr>
        <p:spPr>
          <a:xfrm>
            <a:off x="7476744" y="486156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⑧ Confirmed Execution</a:t>
            </a:r>
            <a:endParaRPr lang="en-US" sz="1150" dirty="0"/>
          </a:p>
        </p:txBody>
      </p:sp>
      <p:sp>
        <p:nvSpPr>
          <p:cNvPr id="66" name="Text 63"/>
          <p:cNvSpPr/>
          <p:nvPr/>
        </p:nvSpPr>
        <p:spPr>
          <a:xfrm>
            <a:off x="7129272" y="533704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</a:t>
            </a:r>
            <a:endParaRPr lang="en-US" sz="900" dirty="0"/>
          </a:p>
        </p:txBody>
      </p:sp>
      <p:sp>
        <p:nvSpPr>
          <p:cNvPr id="67" name="Text 64"/>
          <p:cNvSpPr/>
          <p:nvPr/>
        </p:nvSpPr>
        <p:spPr>
          <a:xfrm>
            <a:off x="7129272" y="555650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run once the requestor confirms the sample.</a:t>
            </a:r>
            <a:endParaRPr lang="en-US" sz="900" dirty="0"/>
          </a:p>
        </p:txBody>
      </p:sp>
      <p:sp>
        <p:nvSpPr>
          <p:cNvPr id="68" name="Shape 65"/>
          <p:cNvSpPr/>
          <p:nvPr/>
        </p:nvSpPr>
        <p:spPr>
          <a:xfrm>
            <a:off x="9467088" y="4770120"/>
            <a:ext cx="2264664" cy="1722120"/>
          </a:xfrm>
          <a:prstGeom prst="roundRect">
            <a:avLst>
              <a:gd name="adj" fmla="val 4248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9" name="Shape 66"/>
          <p:cNvSpPr/>
          <p:nvPr/>
        </p:nvSpPr>
        <p:spPr>
          <a:xfrm>
            <a:off x="9576816" y="4879848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0" name="Text 67"/>
          <p:cNvSpPr/>
          <p:nvPr/>
        </p:nvSpPr>
        <p:spPr>
          <a:xfrm>
            <a:off x="9576816" y="487984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100" dirty="0"/>
          </a:p>
        </p:txBody>
      </p:sp>
      <p:sp>
        <p:nvSpPr>
          <p:cNvPr id="71" name="Text 68"/>
          <p:cNvSpPr/>
          <p:nvPr/>
        </p:nvSpPr>
        <p:spPr>
          <a:xfrm>
            <a:off x="9924288" y="4861560"/>
            <a:ext cx="1697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1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⑨ Escalation Fallback</a:t>
            </a:r>
            <a:endParaRPr lang="en-US" sz="1150" dirty="0"/>
          </a:p>
        </p:txBody>
      </p:sp>
      <p:sp>
        <p:nvSpPr>
          <p:cNvPr id="72" name="Text 69"/>
          <p:cNvSpPr/>
          <p:nvPr/>
        </p:nvSpPr>
        <p:spPr>
          <a:xfrm>
            <a:off x="9576816" y="5337048"/>
            <a:ext cx="20452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(rule)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9576816" y="5556504"/>
            <a:ext cx="2045208" cy="826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Low-confidence match → human review → catalog grows.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LLM decides WHAT; deterministic software decides HOW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PRINCIPLE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Classification and slot-filling don't need deep reasoning. That's deliberate — it keeps the one part of the pipeline that touches a model narrow and low-risk.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017520"/>
            <a:ext cx="54864" cy="1078992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17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TIER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273552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fast, low-cost model tier fits this task. On-prem or open-weight runtime requirements don't change that — only the model swaps.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LLM NEVER DOES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Never sees production data directly. Never free-generates a query string or assembles composite identifiers — that's a deterministic template fill.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— LLM scope intentionally narrow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/ WORKFLOW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9 steps (previous page), grouped here into 4 stages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Cards 1-3 = 1 LLM step each. Card 4 rolls up the other 6 — all deterministic.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591056"/>
            <a:ext cx="1673352" cy="1874520"/>
          </a:xfrm>
          <a:prstGeom prst="roundRect">
            <a:avLst>
              <a:gd name="adj" fmla="val 4372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1526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62372" y="186537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645152" y="2377440"/>
            <a:ext cx="1527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Classify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645152" y="2798064"/>
            <a:ext cx="152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NL request → 5-10 known domains (LLM, narrow classification).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62453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6400800" y="1591056"/>
            <a:ext cx="1673352" cy="1874520"/>
          </a:xfrm>
          <a:prstGeom prst="roundRect">
            <a:avLst>
              <a:gd name="adj" fmla="val 4372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69814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91172" y="1865376"/>
            <a:ext cx="292608" cy="29260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6473952" y="2377440"/>
            <a:ext cx="1527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Template Match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6473952" y="2798064"/>
            <a:ext cx="152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Match against 20-80 catalog entries within the domain (LLM).</a:t>
            </a:r>
            <a:endParaRPr lang="en-US" sz="950" dirty="0"/>
          </a:p>
        </p:txBody>
      </p:sp>
      <p:sp>
        <p:nvSpPr>
          <p:cNvPr id="31" name="Text 26"/>
          <p:cNvSpPr/>
          <p:nvPr/>
        </p:nvSpPr>
        <p:spPr>
          <a:xfrm>
            <a:off x="80741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2" name="Shape 27"/>
          <p:cNvSpPr/>
          <p:nvPr/>
        </p:nvSpPr>
        <p:spPr>
          <a:xfrm>
            <a:off x="8229600" y="1591056"/>
            <a:ext cx="1673352" cy="1874520"/>
          </a:xfrm>
          <a:prstGeom prst="roundRect">
            <a:avLst>
              <a:gd name="adj" fmla="val 4372"/>
            </a:avLst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3" name="Shape 28"/>
          <p:cNvSpPr/>
          <p:nvPr/>
        </p:nvSpPr>
        <p:spPr>
          <a:xfrm>
            <a:off x="88102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3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19972" y="1865376"/>
            <a:ext cx="292608" cy="292608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8302752" y="2377440"/>
            <a:ext cx="1527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 Extract</a:t>
            </a:r>
            <a:endParaRPr lang="en-US" sz="1250" dirty="0"/>
          </a:p>
        </p:txBody>
      </p:sp>
      <p:sp>
        <p:nvSpPr>
          <p:cNvPr id="36" name="Text 30"/>
          <p:cNvSpPr/>
          <p:nvPr/>
        </p:nvSpPr>
        <p:spPr>
          <a:xfrm>
            <a:off x="8302752" y="2798064"/>
            <a:ext cx="152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Pull stated values — dates, product, lot ID (LLM, slot-filling).</a:t>
            </a:r>
            <a:endParaRPr lang="en-US" sz="950" dirty="0"/>
          </a:p>
        </p:txBody>
      </p:sp>
      <p:sp>
        <p:nvSpPr>
          <p:cNvPr id="37" name="Text 31"/>
          <p:cNvSpPr/>
          <p:nvPr/>
        </p:nvSpPr>
        <p:spPr>
          <a:xfrm>
            <a:off x="99029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38" name="Shape 32"/>
          <p:cNvSpPr/>
          <p:nvPr/>
        </p:nvSpPr>
        <p:spPr>
          <a:xfrm>
            <a:off x="10058400" y="1591056"/>
            <a:ext cx="1673352" cy="1874520"/>
          </a:xfrm>
          <a:prstGeom prst="roundRect">
            <a:avLst>
              <a:gd name="adj" fmla="val 4372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Shape 33"/>
          <p:cNvSpPr/>
          <p:nvPr/>
        </p:nvSpPr>
        <p:spPr>
          <a:xfrm>
            <a:off x="10639044" y="1755648"/>
            <a:ext cx="512064" cy="512064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748772" y="1865376"/>
            <a:ext cx="292608" cy="292608"/>
          </a:xfrm>
          <a:prstGeom prst="rect">
            <a:avLst/>
          </a:prstGeom>
        </p:spPr>
      </p:pic>
      <p:sp>
        <p:nvSpPr>
          <p:cNvPr id="41" name="Text 34"/>
          <p:cNvSpPr/>
          <p:nvPr/>
        </p:nvSpPr>
        <p:spPr>
          <a:xfrm>
            <a:off x="10131552" y="2377440"/>
            <a:ext cx="15270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Deterministic Execute</a:t>
            </a:r>
            <a:endParaRPr lang="en-US" sz="1250" dirty="0"/>
          </a:p>
        </p:txBody>
      </p:sp>
      <p:sp>
        <p:nvSpPr>
          <p:cNvPr id="42" name="Text 35"/>
          <p:cNvSpPr/>
          <p:nvPr/>
        </p:nvSpPr>
        <p:spPr>
          <a:xfrm>
            <a:off x="10131552" y="2798064"/>
            <a:ext cx="15270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 resolution, query assembly, sandbox run — no model involved.</a:t>
            </a:r>
            <a:endParaRPr lang="en-US" sz="950" dirty="0"/>
          </a:p>
        </p:txBody>
      </p:sp>
      <p:sp>
        <p:nvSpPr>
          <p:cNvPr id="43" name="Shape 36"/>
          <p:cNvSpPr/>
          <p:nvPr/>
        </p:nvSpPr>
        <p:spPr>
          <a:xfrm>
            <a:off x="4572000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7"/>
          <p:cNvSpPr/>
          <p:nvPr/>
        </p:nvSpPr>
        <p:spPr>
          <a:xfrm>
            <a:off x="4709160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of 9</a:t>
            </a:r>
            <a:endParaRPr lang="en-US" sz="1800" dirty="0"/>
          </a:p>
        </p:txBody>
      </p:sp>
      <p:sp>
        <p:nvSpPr>
          <p:cNvPr id="45" name="Text 38"/>
          <p:cNvSpPr/>
          <p:nvPr/>
        </p:nvSpPr>
        <p:spPr>
          <a:xfrm>
            <a:off x="4709160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steps touch a model at all</a:t>
            </a:r>
            <a:endParaRPr lang="en-US" sz="950" dirty="0"/>
          </a:p>
        </p:txBody>
      </p:sp>
      <p:sp>
        <p:nvSpPr>
          <p:cNvPr id="46" name="Shape 39"/>
          <p:cNvSpPr/>
          <p:nvPr/>
        </p:nvSpPr>
        <p:spPr>
          <a:xfrm>
            <a:off x="7019544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7" name="Text 40"/>
          <p:cNvSpPr/>
          <p:nvPr/>
        </p:nvSpPr>
        <p:spPr>
          <a:xfrm>
            <a:off x="7156704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48" name="Text 41"/>
          <p:cNvSpPr/>
          <p:nvPr/>
        </p:nvSpPr>
        <p:spPr>
          <a:xfrm>
            <a:off x="7156704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requiring deep reasoning or multi-step planning</a:t>
            </a:r>
            <a:endParaRPr lang="en-US" sz="950" dirty="0"/>
          </a:p>
        </p:txBody>
      </p:sp>
      <p:sp>
        <p:nvSpPr>
          <p:cNvPr id="49" name="Shape 42"/>
          <p:cNvSpPr/>
          <p:nvPr/>
        </p:nvSpPr>
        <p:spPr>
          <a:xfrm>
            <a:off x="9467088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0" name="Text 43"/>
          <p:cNvSpPr/>
          <p:nvPr/>
        </p:nvSpPr>
        <p:spPr>
          <a:xfrm>
            <a:off x="9604248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~$0.002</a:t>
            </a:r>
            <a:endParaRPr lang="en-US" sz="1800" dirty="0"/>
          </a:p>
        </p:txBody>
      </p:sp>
      <p:sp>
        <p:nvSpPr>
          <p:cNvPr id="51" name="Text 44"/>
          <p:cNvSpPr/>
          <p:nvPr/>
        </p:nvSpPr>
        <p:spPr>
          <a:xfrm>
            <a:off x="9604248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estimated cost per request at cheap-tier pricing</a:t>
            </a:r>
            <a:endParaRPr lang="en-US" sz="950" dirty="0"/>
          </a:p>
        </p:txBody>
      </p:sp>
      <p:sp>
        <p:nvSpPr>
          <p:cNvPr id="52" name="Shape 45"/>
          <p:cNvSpPr/>
          <p:nvPr/>
        </p:nvSpPr>
        <p:spPr>
          <a:xfrm>
            <a:off x="4572000" y="4837176"/>
            <a:ext cx="7159752" cy="160020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53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73168" y="4910328"/>
            <a:ext cx="329184" cy="329184"/>
          </a:xfrm>
          <a:prstGeom prst="rect">
            <a:avLst/>
          </a:prstGeom>
        </p:spPr>
      </p:pic>
      <p:sp>
        <p:nvSpPr>
          <p:cNvPr id="54" name="Text 46"/>
          <p:cNvSpPr/>
          <p:nvPr/>
        </p:nvSpPr>
        <p:spPr>
          <a:xfrm>
            <a:off x="5230368" y="4892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 GATE — UNCHANGED REGARDLESS OF MODEL</a:t>
            </a:r>
            <a:endParaRPr lang="en-US" sz="1250" dirty="0"/>
          </a:p>
        </p:txBody>
      </p:sp>
      <p:sp>
        <p:nvSpPr>
          <p:cNvPr id="55" name="Text 47"/>
          <p:cNvSpPr/>
          <p:nvPr/>
        </p:nvSpPr>
        <p:spPr>
          <a:xfrm>
            <a:off x="4773168" y="5294376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Confirmation is a capped sandbox run against real data, not “read the generated query.” Stakeholders judge real sample rows before full production execution — mandatory no matter how capable the model gets.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could slow this down vs what could cap it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CHALLENGING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 identifiers (e.g. wafer test filenames) encode 6-7 fields in one string. Decoding them requires the SMEs who hold that knowledge today — it blocks everything downstream.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209544"/>
            <a:ext cx="54864" cy="1271016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2095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C092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 RISKY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465576"/>
            <a:ext cx="30632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Whether a fast, low-cost model is accurate enough for classify + extract hasn't been benchmarked against real historical queries yet — the whole narrow-scope design rests on that holding up.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617720"/>
            <a:ext cx="54864" cy="85953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6177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CAPS THE DAMAGE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873752"/>
            <a:ext cx="30632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mandatory sandbox-run gate — a wrong classification produces a bad sample, not a bad production run.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Needs decision — SME time + model benchmark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 vs RISK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is an engineering cost we can plan for.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other is an assumption we haven't measured yet.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067044" y="1755648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772" y="186537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6451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Challenge: Identifier Decoding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6451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One-time SME documentation effort, on the critical path for parameter resolution. Solvable with time and the right people.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0741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82296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CC092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97246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4372" y="1865376"/>
            <a:ext cx="292608" cy="29260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027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Risk: Unvalidated Model-Tier Assumption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83027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V1's narrow scope assumes a cheap model is accurate enough for classify + extract. Lower real accuracy raises escalation volume and erodes the “minutes not days” value.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4572000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4709160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1×</a:t>
            </a:r>
            <a:endParaRPr lang="en-US" sz="1800" dirty="0"/>
          </a:p>
        </p:txBody>
      </p:sp>
      <p:sp>
        <p:nvSpPr>
          <p:cNvPr id="33" name="Text 28"/>
          <p:cNvSpPr/>
          <p:nvPr/>
        </p:nvSpPr>
        <p:spPr>
          <a:xfrm>
            <a:off x="4709160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SME documentation pass needed, once, per domain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019544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7156704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TBD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7156704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accuracy of the chosen model tier — not yet benchmarked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467088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9604248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 hundred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9604248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final catalog size, pending full dedup of the 40k+ log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572000" y="4837176"/>
            <a:ext cx="7159752" cy="160020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910328"/>
            <a:ext cx="329184" cy="329184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0368" y="4892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RECOMMENDED NEXT STEP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4773168" y="5294376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 the chosen model tier against a held-out slice of the golden-query corpus before committing to a v1 timeline — this number determines whether the target catalog size is realistic or the per-domain candidate list needs to be narrower.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decision record: build the matching layer on our own APIs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OPTION CONSIDERED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Semantic-layer / NL-to-SQL products — Snowflake Cortex Analyst, dbt Semantic Layer, Cube.dev — buy instead of build.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825496"/>
            <a:ext cx="54864" cy="1271016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2825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NOT BUY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081528"/>
            <a:ext cx="30632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These emit SQL against warehouse tables, a different target than our API-calling surface. Buying one still leaves the NL-to-API integration to build from scratch.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REUSE INSTEAD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Existing data-access APIs already encode the deterministic business logic. That's the expensive part — and it's already built.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Decision — Build, confirmed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A — BUY vs BUILD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independent reasons point the same way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Either reason alone would be enough on its own.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067044" y="1755648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772" y="186537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6451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Buy: Semantic-Layer Product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6451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 SQL against a warehouse — a different target than our API-calling surface. Doesn't speak our API dialect.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0741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82296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97246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4372" y="1865376"/>
            <a:ext cx="292608" cy="29260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027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Build: Catalog Match on Our APIs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83027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Classify into a known catalog, call our existing APIs directly. Reuses deterministic logic already in production.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4572000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4709160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800" dirty="0"/>
          </a:p>
        </p:txBody>
      </p:sp>
      <p:sp>
        <p:nvSpPr>
          <p:cNvPr id="33" name="Text 28"/>
          <p:cNvSpPr/>
          <p:nvPr/>
        </p:nvSpPr>
        <p:spPr>
          <a:xfrm>
            <a:off x="4709160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 dialect the system must speak — ours, not generic SQL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019544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7156704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7156704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semantic-layer vendors that speak our APIs' query dialect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467088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9604248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gDB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9604248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exception — graph/lineage queries need their own adapter either way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572000" y="4837176"/>
            <a:ext cx="7159752" cy="160020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910328"/>
            <a:ext cx="329184" cy="329184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0368" y="4892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PATTERN WE KEEP FROM “BUY” THINKING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4773168" y="5294376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Declarative catalog + LLM restricted to selecting from it + deterministic compiler underneath — that's exactly how these products work internally. We apply the same pattern to our own API layer instead of paying for it to be applied to a warehouse we're not centered on.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 to-do plan: agent-oriented API transition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GOAL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 the Catalog as agent-callable tools, backed by one typed OpenAPI contract — not a second hand-built layer on top of v1.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3017520"/>
            <a:ext cx="54864" cy="1078992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301752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TOGETHER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273552"/>
            <a:ext cx="3063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(agent tools) and #2 (typed contract) share one schema artifact — build it once per catalog entry, get both a spec and a tool set.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WHAT'S NOT HERE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Composite-ID resolution as its own service (#3) is on a separate page — held, and not part of this to-do plan.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— v2 direction agreed, to-do plan below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AGENT-ORIENTED API TRANSITION — V2 TO-DO PLAN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concrete steps — from today’s SQL-string API to agent-callable tools.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373880" y="6281928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Steps 1–3 build the shared schema artifact; 4–6 make it safe and provable before scaling.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960120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4572000" y="960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4956048" y="94183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Define Typed Schema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9720072" y="94183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Foundation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4572000" y="1271016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4709160" y="1271016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catalog entry: parameters, types, valid ranges — already funded by v1’s catalog-curation work (§6), not new labor.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0" y="1737360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4572000" y="1847088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4572000" y="1847088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4956048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Publish OpenAPI Contract (#2)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720072" y="1828800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Contract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4572000" y="2157984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4709160" y="2157984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machine-readable spec per domain — the typed request format that replaces the SQL-style string as the public contract.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0" y="2624328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4572000" y="2734056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4572000" y="273405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4956048" y="271576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Generate Agent Tools (#1)</a:t>
            </a:r>
            <a:endParaRPr lang="en-US" sz="1200" dirty="0"/>
          </a:p>
        </p:txBody>
      </p:sp>
      <p:sp>
        <p:nvSpPr>
          <p:cNvPr id="37" name="Text 34"/>
          <p:cNvSpPr/>
          <p:nvPr/>
        </p:nvSpPr>
        <p:spPr>
          <a:xfrm>
            <a:off x="9720072" y="271576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Tooling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4572000" y="3044952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36"/>
          <p:cNvSpPr/>
          <p:nvPr/>
        </p:nvSpPr>
        <p:spPr>
          <a:xfrm>
            <a:off x="4709160" y="3044952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Callable tool definitions generated from the spec — named, typed, discoverable by any agent, not hand-built per entry.</a:t>
            </a:r>
            <a:endParaRPr lang="en-US" sz="900" dirty="0"/>
          </a:p>
        </p:txBody>
      </p:sp>
      <p:sp>
        <p:nvSpPr>
          <p:cNvPr id="40" name="Text 37"/>
          <p:cNvSpPr/>
          <p:nvPr/>
        </p:nvSpPr>
        <p:spPr>
          <a:xfrm>
            <a:off x="4572000" y="3511296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4572000" y="3621024"/>
            <a:ext cx="292608" cy="29260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2" name="Text 39"/>
          <p:cNvSpPr/>
          <p:nvPr/>
        </p:nvSpPr>
        <p:spPr>
          <a:xfrm>
            <a:off x="4572000" y="362102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43" name="Text 40"/>
          <p:cNvSpPr/>
          <p:nvPr/>
        </p:nvSpPr>
        <p:spPr>
          <a:xfrm>
            <a:off x="4956048" y="36027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Wrap the Confirm Gate</a:t>
            </a:r>
            <a:endParaRPr lang="en-US" sz="1200" dirty="0"/>
          </a:p>
        </p:txBody>
      </p:sp>
      <p:sp>
        <p:nvSpPr>
          <p:cNvPr id="44" name="Text 41"/>
          <p:cNvSpPr/>
          <p:nvPr/>
        </p:nvSpPr>
        <p:spPr>
          <a:xfrm>
            <a:off x="9720072" y="3602736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Safety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4572000" y="3931920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6" name="Text 43"/>
          <p:cNvSpPr/>
          <p:nvPr/>
        </p:nvSpPr>
        <p:spPr>
          <a:xfrm>
            <a:off x="4709160" y="3931920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Sandbox-cap → confirm becomes a two-call contract: preview returns a token, execute requires it — same mandatory gate, agent-callable.</a:t>
            </a:r>
            <a:endParaRPr lang="en-US" sz="900" dirty="0"/>
          </a:p>
        </p:txBody>
      </p:sp>
      <p:sp>
        <p:nvSpPr>
          <p:cNvPr id="47" name="Text 44"/>
          <p:cNvSpPr/>
          <p:nvPr/>
        </p:nvSpPr>
        <p:spPr>
          <a:xfrm>
            <a:off x="4572000" y="4398264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4572000" y="4507992"/>
            <a:ext cx="292608" cy="292608"/>
          </a:xfrm>
          <a:prstGeom prst="ellipse">
            <a:avLst/>
          </a:prstGeom>
          <a:solidFill>
            <a:srgbClr val="53565A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9" name="Text 46"/>
          <p:cNvSpPr/>
          <p:nvPr/>
        </p:nvSpPr>
        <p:spPr>
          <a:xfrm>
            <a:off x="4572000" y="450799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50" name="Text 47"/>
          <p:cNvSpPr/>
          <p:nvPr/>
        </p:nvSpPr>
        <p:spPr>
          <a:xfrm>
            <a:off x="4956048" y="44897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GTO/MCP Policy Check</a:t>
            </a:r>
            <a:endParaRPr lang="en-US" sz="1200" dirty="0"/>
          </a:p>
        </p:txBody>
      </p:sp>
      <p:sp>
        <p:nvSpPr>
          <p:cNvPr id="51" name="Text 48"/>
          <p:cNvSpPr/>
          <p:nvPr/>
        </p:nvSpPr>
        <p:spPr>
          <a:xfrm>
            <a:off x="9720072" y="4489704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Policy Gate</a:t>
            </a:r>
            <a:endParaRPr lang="en-US" sz="950" dirty="0"/>
          </a:p>
        </p:txBody>
      </p:sp>
      <p:sp>
        <p:nvSpPr>
          <p:cNvPr id="52" name="Shape 49"/>
          <p:cNvSpPr/>
          <p:nvPr/>
        </p:nvSpPr>
        <p:spPr>
          <a:xfrm>
            <a:off x="4572000" y="4818888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3" name="Text 50"/>
          <p:cNvSpPr/>
          <p:nvPr/>
        </p:nvSpPr>
        <p:spPr>
          <a:xfrm>
            <a:off x="4709160" y="4818888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whether an agent-callable data API needs the same review as the approved Confluence/GitHub/Jira/Rally MCP servers.</a:t>
            </a:r>
            <a:endParaRPr lang="en-US" sz="900" dirty="0"/>
          </a:p>
        </p:txBody>
      </p:sp>
      <p:sp>
        <p:nvSpPr>
          <p:cNvPr id="54" name="Text 51"/>
          <p:cNvSpPr/>
          <p:nvPr/>
        </p:nvSpPr>
        <p:spPr>
          <a:xfrm>
            <a:off x="4572000" y="5285232"/>
            <a:ext cx="292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100" dirty="0"/>
          </a:p>
        </p:txBody>
      </p:sp>
      <p:sp>
        <p:nvSpPr>
          <p:cNvPr id="55" name="Shape 52"/>
          <p:cNvSpPr/>
          <p:nvPr/>
        </p:nvSpPr>
        <p:spPr>
          <a:xfrm>
            <a:off x="4572000" y="5394960"/>
            <a:ext cx="292608" cy="292608"/>
          </a:xfrm>
          <a:prstGeom prst="ellipse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56" name="Text 53"/>
          <p:cNvSpPr/>
          <p:nvPr/>
        </p:nvSpPr>
        <p:spPr>
          <a:xfrm>
            <a:off x="4572000" y="53949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57" name="Text 54"/>
          <p:cNvSpPr/>
          <p:nvPr/>
        </p:nvSpPr>
        <p:spPr>
          <a:xfrm>
            <a:off x="4956048" y="537667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Pilot One Domain</a:t>
            </a:r>
            <a:endParaRPr lang="en-US" sz="1200" dirty="0"/>
          </a:p>
        </p:txBody>
      </p:sp>
      <p:sp>
        <p:nvSpPr>
          <p:cNvPr id="58" name="Text 55"/>
          <p:cNvSpPr/>
          <p:nvPr/>
        </p:nvSpPr>
        <p:spPr>
          <a:xfrm>
            <a:off x="9720072" y="537667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i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950" dirty="0"/>
          </a:p>
        </p:txBody>
      </p:sp>
      <p:sp>
        <p:nvSpPr>
          <p:cNvPr id="59" name="Shape 56"/>
          <p:cNvSpPr/>
          <p:nvPr/>
        </p:nvSpPr>
        <p:spPr>
          <a:xfrm>
            <a:off x="4572000" y="5705856"/>
            <a:ext cx="7159752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0" name="Text 57"/>
          <p:cNvSpPr/>
          <p:nvPr/>
        </p:nvSpPr>
        <p:spPr>
          <a:xfrm>
            <a:off x="4709160" y="5705856"/>
            <a:ext cx="68854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 #1+#2 for one domain end-to-end — prove the pattern before scaling to the rest of the catalog.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0" cy="6858000"/>
          </a:xfrm>
          <a:prstGeom prst="rect">
            <a:avLst/>
          </a:prstGeom>
          <a:solidFill>
            <a:srgbClr val="3B4652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457200" y="457200"/>
            <a:ext cx="566928" cy="566928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576072"/>
            <a:ext cx="329184" cy="32918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170432" y="384048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102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WSD Data Access Co-Pilot</a:t>
            </a:r>
            <a:endParaRPr lang="en-US" sz="2200" dirty="0"/>
          </a:p>
        </p:txBody>
      </p:sp>
      <p:sp>
        <p:nvSpPr>
          <p:cNvPr id="6" name="Text 3"/>
          <p:cNvSpPr/>
          <p:nvPr/>
        </p:nvSpPr>
        <p:spPr>
          <a:xfrm>
            <a:off x="429768" y="117043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held for later: composite-ID resolution as its own service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457200" y="17830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IDEA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2039112"/>
            <a:ext cx="3337560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 composite-ID resolution (wafer/lot filename decoding) out of Co-Pilot into its own standalone, independently-callable service.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57200" y="2825496"/>
            <a:ext cx="54864" cy="1271016"/>
          </a:xfrm>
          <a:prstGeom prst="rect">
            <a:avLst/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640080" y="2825496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7B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HELD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3081528"/>
            <a:ext cx="306324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Its difficulty is gated by v1's deterministic-assembly module (steps ④⑤) proving out in production first — not by any lack of value in the idea.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457200" y="4233672"/>
            <a:ext cx="54864" cy="1042416"/>
          </a:xfrm>
          <a:prstGeom prst="rect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0"/>
          <p:cNvSpPr/>
          <p:nvPr/>
        </p:nvSpPr>
        <p:spPr>
          <a:xfrm>
            <a:off x="640080" y="423367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IT'S WORTH REVISITING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89704"/>
            <a:ext cx="30632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Both sampled domains (be-module, fbar-wafer) lean on composite identifiers — a standalone resolver pays off for every future agent-facing API, not just this one.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457200" y="562356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3B4652"/>
          </a:solidFill>
          <a:ln w="12700">
            <a:solidFill>
              <a:srgbClr val="0098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58368" y="5742432"/>
            <a:ext cx="2971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 dirty="0">
                <a:solidFill>
                  <a:srgbClr val="0098C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1050" dirty="0"/>
          </a:p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Held — not scoped, revisit after v1's deterministic core runs in production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4572000" y="256032"/>
            <a:ext cx="7159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COMPOSITE-ID RESOLUTION SERVICE (#3) — HELD</a:t>
            </a:r>
            <a:endParaRPr lang="en-US" sz="1900" dirty="0"/>
          </a:p>
        </p:txBody>
      </p:sp>
      <p:sp>
        <p:nvSpPr>
          <p:cNvPr id="18" name="Text 15"/>
          <p:cNvSpPr/>
          <p:nvPr/>
        </p:nvSpPr>
        <p:spPr>
          <a:xfrm>
            <a:off x="4572000" y="694944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value, wrong time.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4572000" y="987552"/>
            <a:ext cx="7159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depends on something that hasn't shipped yet — not part of the #1+#2 to-do plan.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5720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6067044" y="1755648"/>
            <a:ext cx="512064" cy="512064"/>
          </a:xfrm>
          <a:prstGeom prst="ellipse">
            <a:avLst/>
          </a:prstGeom>
          <a:solidFill>
            <a:srgbClr val="0098C7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6772" y="1865376"/>
            <a:ext cx="292608" cy="292608"/>
          </a:xfrm>
          <a:prstGeom prst="rect">
            <a:avLst/>
          </a:prstGeom>
        </p:spPr>
      </p:pic>
      <p:sp>
        <p:nvSpPr>
          <p:cNvPr id="23" name="Text 19"/>
          <p:cNvSpPr/>
          <p:nvPr/>
        </p:nvSpPr>
        <p:spPr>
          <a:xfrm>
            <a:off x="46451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Would Be</a:t>
            </a:r>
            <a:endParaRPr lang="en-US" sz="1250" dirty="0"/>
          </a:p>
        </p:txBody>
      </p:sp>
      <p:sp>
        <p:nvSpPr>
          <p:cNvPr id="24" name="Text 20"/>
          <p:cNvSpPr/>
          <p:nvPr/>
        </p:nvSpPr>
        <p:spPr>
          <a:xfrm>
            <a:off x="46451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resolve_composite_id(...) → filename, and the inverse parse_composite_id(filename) → {fields} — callable independently of the Co-Pilot pipeline.</a:t>
            </a:r>
            <a:endParaRPr lang="en-US" sz="950" dirty="0"/>
          </a:p>
        </p:txBody>
      </p:sp>
      <p:sp>
        <p:nvSpPr>
          <p:cNvPr id="25" name="Text 21"/>
          <p:cNvSpPr/>
          <p:nvPr/>
        </p:nvSpPr>
        <p:spPr>
          <a:xfrm>
            <a:off x="8074152" y="2327148"/>
            <a:ext cx="1554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2"/>
          <p:cNvSpPr/>
          <p:nvPr/>
        </p:nvSpPr>
        <p:spPr>
          <a:xfrm>
            <a:off x="8229600" y="1591056"/>
            <a:ext cx="3502152" cy="1874520"/>
          </a:xfrm>
          <a:prstGeom prst="roundRect">
            <a:avLst>
              <a:gd name="adj" fmla="val 3902"/>
            </a:avLst>
          </a:prstGeom>
          <a:solidFill>
            <a:srgbClr val="007B8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Shape 23"/>
          <p:cNvSpPr/>
          <p:nvPr/>
        </p:nvSpPr>
        <p:spPr>
          <a:xfrm>
            <a:off x="9724644" y="1755648"/>
            <a:ext cx="512064" cy="512064"/>
          </a:xfrm>
          <a:prstGeom prst="ellipse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2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34372" y="1865376"/>
            <a:ext cx="292608" cy="292608"/>
          </a:xfrm>
          <a:prstGeom prst="rect">
            <a:avLst/>
          </a:prstGeom>
        </p:spPr>
      </p:pic>
      <p:sp>
        <p:nvSpPr>
          <p:cNvPr id="29" name="Text 24"/>
          <p:cNvSpPr/>
          <p:nvPr/>
        </p:nvSpPr>
        <p:spPr>
          <a:xfrm>
            <a:off x="8302752" y="2377440"/>
            <a:ext cx="335584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Waits</a:t>
            </a:r>
            <a:endParaRPr lang="en-US" sz="1250" dirty="0"/>
          </a:p>
        </p:txBody>
      </p:sp>
      <p:sp>
        <p:nvSpPr>
          <p:cNvPr id="30" name="Text 25"/>
          <p:cNvSpPr/>
          <p:nvPr/>
        </p:nvSpPr>
        <p:spPr>
          <a:xfrm>
            <a:off x="8302752" y="2798064"/>
            <a:ext cx="3355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950" dirty="0">
                <a:solidFill>
                  <a:srgbClr val="EEEF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Extracting a service boundary from logic that hasn't yet been validated in production risks exporting an unstable interface to new callers instead of a solid one.</a:t>
            </a:r>
            <a:endParaRPr lang="en-US" sz="950" dirty="0"/>
          </a:p>
        </p:txBody>
      </p:sp>
      <p:sp>
        <p:nvSpPr>
          <p:cNvPr id="31" name="Shape 26"/>
          <p:cNvSpPr/>
          <p:nvPr/>
        </p:nvSpPr>
        <p:spPr>
          <a:xfrm>
            <a:off x="4572000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7"/>
          <p:cNvSpPr/>
          <p:nvPr/>
        </p:nvSpPr>
        <p:spPr>
          <a:xfrm>
            <a:off x="4709160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800" dirty="0"/>
          </a:p>
        </p:txBody>
      </p:sp>
      <p:sp>
        <p:nvSpPr>
          <p:cNvPr id="33" name="Text 28"/>
          <p:cNvSpPr/>
          <p:nvPr/>
        </p:nvSpPr>
        <p:spPr>
          <a:xfrm>
            <a:off x="4709160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sampled domains (be-module, fbar-wafer) that both depend on composite identifiers</a:t>
            </a:r>
            <a:endParaRPr lang="en-US" sz="950" dirty="0"/>
          </a:p>
        </p:txBody>
      </p:sp>
      <p:sp>
        <p:nvSpPr>
          <p:cNvPr id="34" name="Shape 29"/>
          <p:cNvSpPr/>
          <p:nvPr/>
        </p:nvSpPr>
        <p:spPr>
          <a:xfrm>
            <a:off x="7019544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0"/>
          <p:cNvSpPr/>
          <p:nvPr/>
        </p:nvSpPr>
        <p:spPr>
          <a:xfrm>
            <a:off x="7156704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800" dirty="0"/>
          </a:p>
        </p:txBody>
      </p:sp>
      <p:sp>
        <p:nvSpPr>
          <p:cNvPr id="36" name="Text 31"/>
          <p:cNvSpPr/>
          <p:nvPr/>
        </p:nvSpPr>
        <p:spPr>
          <a:xfrm>
            <a:off x="7156704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production runs of v1's deterministic-assembly module so far — the gating condition</a:t>
            </a:r>
            <a:endParaRPr lang="en-US" sz="950" dirty="0"/>
          </a:p>
        </p:txBody>
      </p:sp>
      <p:sp>
        <p:nvSpPr>
          <p:cNvPr id="37" name="Shape 32"/>
          <p:cNvSpPr/>
          <p:nvPr/>
        </p:nvSpPr>
        <p:spPr>
          <a:xfrm>
            <a:off x="9467088" y="3593592"/>
            <a:ext cx="2264664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9525">
            <a:solidFill>
              <a:srgbClr val="EEEFF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3"/>
          <p:cNvSpPr/>
          <p:nvPr/>
        </p:nvSpPr>
        <p:spPr>
          <a:xfrm>
            <a:off x="9604248" y="3703320"/>
            <a:ext cx="1990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Later</a:t>
            </a:r>
            <a:endParaRPr lang="en-US" sz="1800" dirty="0"/>
          </a:p>
        </p:txBody>
      </p:sp>
      <p:sp>
        <p:nvSpPr>
          <p:cNvPr id="39" name="Text 34"/>
          <p:cNvSpPr/>
          <p:nvPr/>
        </p:nvSpPr>
        <p:spPr>
          <a:xfrm>
            <a:off x="9604248" y="4160520"/>
            <a:ext cx="1990344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5356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revisit timing — after v1's deterministic core proves out, not before</a:t>
            </a:r>
            <a:endParaRPr lang="en-US" sz="950" dirty="0"/>
          </a:p>
        </p:txBody>
      </p:sp>
      <p:sp>
        <p:nvSpPr>
          <p:cNvPr id="40" name="Shape 35"/>
          <p:cNvSpPr/>
          <p:nvPr/>
        </p:nvSpPr>
        <p:spPr>
          <a:xfrm>
            <a:off x="4572000" y="4837176"/>
            <a:ext cx="7159752" cy="1600200"/>
          </a:xfrm>
          <a:prstGeom prst="rect">
            <a:avLst/>
          </a:prstGeom>
          <a:solidFill>
            <a:srgbClr val="EEEFF0"/>
          </a:solidFill>
          <a:ln/>
        </p:spPr>
        <p:txBody>
          <a:bodyPr/>
          <a:lstStyle/>
          <a:p>
            <a:endParaRPr lang="en-US"/>
          </a:p>
        </p:txBody>
      </p:sp>
      <p:pic>
        <p:nvPicPr>
          <p:cNvPr id="4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73168" y="4910328"/>
            <a:ext cx="329184" cy="329184"/>
          </a:xfrm>
          <a:prstGeom prst="rect">
            <a:avLst/>
          </a:prstGeom>
        </p:spPr>
      </p:pic>
      <p:sp>
        <p:nvSpPr>
          <p:cNvPr id="42" name="Text 36"/>
          <p:cNvSpPr/>
          <p:nvPr/>
        </p:nvSpPr>
        <p:spPr>
          <a:xfrm>
            <a:off x="5230368" y="4892040"/>
            <a:ext cx="6309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005C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THIS IS HELD, NOT DROPPED</a:t>
            </a:r>
            <a:endParaRPr lang="en-US" sz="1250" dirty="0"/>
          </a:p>
        </p:txBody>
      </p:sp>
      <p:sp>
        <p:nvSpPr>
          <p:cNvPr id="43" name="Text 37"/>
          <p:cNvSpPr/>
          <p:nvPr/>
        </p:nvSpPr>
        <p:spPr>
          <a:xfrm>
            <a:off x="4773168" y="5294376"/>
            <a:ext cx="6766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050" b="1" dirty="0">
                <a:solidFill>
                  <a:srgbClr val="3B465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SME documentation cost is already being paid inside v1 regardless of this decision. Packaging it as a separate service is nearly free incremental work once the core logic is trusted — this is a sequencing call, not a value judgment.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1677</Words>
  <Application>Microsoft Macintosh PowerPoint</Application>
  <PresentationFormat>Widescreen</PresentationFormat>
  <Paragraphs>207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Han Yu</cp:lastModifiedBy>
  <cp:revision>2</cp:revision>
  <dcterms:created xsi:type="dcterms:W3CDTF">2026-09-06T02:31:40Z</dcterms:created>
  <dcterms:modified xsi:type="dcterms:W3CDTF">2026-09-06T07:33:37Z</dcterms:modified>
</cp:coreProperties>
</file>