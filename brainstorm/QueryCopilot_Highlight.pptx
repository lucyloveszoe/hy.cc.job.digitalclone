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147481539" r:id="rId2"/>
    <p:sldId id="2147481540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35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7200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CEA5-320B-D9A6-11B1-9021CAEED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6F7896-555C-A7EF-ED3D-45EEB02F1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1F024-1802-183D-41D4-062697502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D123E-32E4-643A-7E6F-EA68DE86C2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41861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DB5B6-4891-B265-19CA-9EDCB827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9697F9-0366-CD23-47BD-C7EC0214986A}"/>
              </a:ext>
            </a:extLst>
          </p:cNvPr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50A5A33-CFD9-357A-7D14-774E146637BE}"/>
              </a:ext>
            </a:extLst>
          </p:cNvPr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CE91E3B9-C0FD-3699-F06A-8FE529B49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91B8DEFE-186C-1702-D52E-3BBA278B3AAD}"/>
              </a:ext>
            </a:extLst>
          </p:cNvPr>
          <p:cNvSpPr/>
          <p:nvPr/>
        </p:nvSpPr>
        <p:spPr>
          <a:xfrm>
            <a:off x="1170432" y="429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SaaS Query COPILOT</a:t>
            </a:r>
            <a:endParaRPr lang="en-US" sz="2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4DD65E6-CB9F-B52C-4A42-857C45D59B5F}"/>
              </a:ext>
            </a:extLst>
          </p:cNvPr>
          <p:cNvSpPr/>
          <p:nvPr/>
        </p:nvSpPr>
        <p:spPr>
          <a:xfrm>
            <a:off x="434340" y="1225296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→ SQL Data Request Assistant for WSD Data SaaS Backbone</a:t>
            </a:r>
            <a:endParaRPr lang="en-US" sz="13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B994457-28BF-C1F5-98A5-D1604A474D7D}"/>
              </a:ext>
            </a:extLst>
          </p:cNvPr>
          <p:cNvSpPr/>
          <p:nvPr/>
        </p:nvSpPr>
        <p:spPr>
          <a:xfrm>
            <a:off x="457200" y="17373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5C8F83-8C09-3D48-B441-50D246921196}"/>
              </a:ext>
            </a:extLst>
          </p:cNvPr>
          <p:cNvSpPr/>
          <p:nvPr/>
        </p:nvSpPr>
        <p:spPr>
          <a:xfrm>
            <a:off x="457200" y="1993392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experts hand-write SQL against WSD SaaS (</a:t>
            </a:r>
            <a:r>
              <a:rPr lang="en-US" sz="1250" dirty="0" err="1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zDB</a:t>
            </a: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gDB, WUDAS, and TUDAS). Slow, requires SQL literacy, and funnels every request through whoever can write the query.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0EEB97A-47E2-0DBE-B1EA-D8B124902E11}"/>
              </a:ext>
            </a:extLst>
          </p:cNvPr>
          <p:cNvSpPr/>
          <p:nvPr/>
        </p:nvSpPr>
        <p:spPr>
          <a:xfrm>
            <a:off x="457200" y="3063240"/>
            <a:ext cx="54864" cy="1280160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567FE47-5AC4-0933-A76E-7114938880D6}"/>
              </a:ext>
            </a:extLst>
          </p:cNvPr>
          <p:cNvSpPr/>
          <p:nvPr/>
        </p:nvSpPr>
        <p:spPr>
          <a:xfrm>
            <a:off x="640080" y="3063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SAFETY UPGRADE</a:t>
            </a:r>
            <a:endParaRPr lang="en-US" sz="11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44BD69E-3B2B-15D0-451B-E80815438EBC}"/>
              </a:ext>
            </a:extLst>
          </p:cNvPr>
          <p:cNvSpPr/>
          <p:nvPr/>
        </p:nvSpPr>
        <p:spPr>
          <a:xfrm>
            <a:off x="640080" y="33192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isn't “read the SQL” — it's a capped sandbox trial run. Requestors judge real sample rows, far more reliably than spotting a wrong JOIN.</a:t>
            </a:r>
            <a:endParaRPr lang="en-US" sz="12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4D3C8D6-E54A-AA18-5954-34D59D5C5737}"/>
              </a:ext>
            </a:extLst>
          </p:cNvPr>
          <p:cNvSpPr/>
          <p:nvPr/>
        </p:nvSpPr>
        <p:spPr>
          <a:xfrm>
            <a:off x="457200" y="4526280"/>
            <a:ext cx="54864" cy="868680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C056128-14BE-D6FA-83DF-D6393EB11DE7}"/>
              </a:ext>
            </a:extLst>
          </p:cNvPr>
          <p:cNvSpPr/>
          <p:nvPr/>
        </p:nvSpPr>
        <p:spPr>
          <a:xfrm>
            <a:off x="640080" y="45262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CONSOLIDATION UMBRELLA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9D43429-3232-BDF8-728D-89EDC0878C4A}"/>
              </a:ext>
            </a:extLst>
          </p:cNvPr>
          <p:cNvSpPr/>
          <p:nvPr/>
        </p:nvSpPr>
        <p:spPr>
          <a:xfrm>
            <a:off x="640080" y="47823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proven, overlapping tools plug in later as menu entries — rolled out one domain at a time.</a:t>
            </a:r>
            <a:endParaRPr lang="en-US" sz="11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4C1E0A72-8A83-0B13-2A35-20F0BF2B2126}"/>
              </a:ext>
            </a:extLst>
          </p:cNvPr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9525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2244AF7-FD08-61E1-0054-241FFF099B64}"/>
              </a:ext>
            </a:extLst>
          </p:cNvPr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Brainstorming — v1 Proposal @ 2026-09</a:t>
            </a:r>
            <a:endParaRPr lang="en-US" sz="105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324B3B-3BE5-369B-1A19-DDDEFC17C1BC}"/>
              </a:ext>
            </a:extLst>
          </p:cNvPr>
          <p:cNvSpPr/>
          <p:nvPr/>
        </p:nvSpPr>
        <p:spPr>
          <a:xfrm>
            <a:off x="4462272" y="22275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— V1</a:t>
            </a:r>
            <a:endParaRPr lang="en-US" sz="19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63D09DCC-7055-09A2-9239-4B5941CCB928}"/>
              </a:ext>
            </a:extLst>
          </p:cNvPr>
          <p:cNvSpPr/>
          <p:nvPr/>
        </p:nvSpPr>
        <p:spPr>
          <a:xfrm>
            <a:off x="4402836" y="728345"/>
            <a:ext cx="7354824" cy="709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+ WSD Data SaaS Assets-Menu (API + Library) matching </a:t>
            </a:r>
          </a:p>
          <a:p>
            <a:pPr marL="0" indent="0">
              <a:buNone/>
            </a:pPr>
            <a:r>
              <a:rPr lang="en-US" sz="1250" b="1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	— NOT Free-form SQL or LLM Fine-tuning</a:t>
            </a:r>
          </a:p>
          <a:p>
            <a:pPr marL="0" indent="0">
              <a:buNone/>
            </a:pPr>
            <a:r>
              <a:rPr lang="en-US" sz="110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AI assistance, a consolidation project at this scale and business criticality would be very difficult for this small SW team to deliver within a reasonable time budget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F777904-038E-3C55-210D-182ECDBE5459}"/>
              </a:ext>
            </a:extLst>
          </p:cNvPr>
          <p:cNvSpPr/>
          <p:nvPr/>
        </p:nvSpPr>
        <p:spPr>
          <a:xfrm>
            <a:off x="4572000" y="172339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95B209D0-D89E-3641-99BE-F8ED195F26C0}"/>
              </a:ext>
            </a:extLst>
          </p:cNvPr>
          <p:cNvSpPr/>
          <p:nvPr/>
        </p:nvSpPr>
        <p:spPr>
          <a:xfrm>
            <a:off x="5129784" y="188798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>
            <a:extLst>
              <a:ext uri="{FF2B5EF4-FFF2-40B4-BE49-F238E27FC236}">
                <a16:creationId xmlns:a16="http://schemas.microsoft.com/office/drawing/2014/main" id="{CFD1ECA4-2BB3-5053-F1C5-90B04276A4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1997710"/>
            <a:ext cx="292608" cy="292608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923C26BD-2ADA-D9DC-2E9A-78D28AE5E86E}"/>
              </a:ext>
            </a:extLst>
          </p:cNvPr>
          <p:cNvSpPr/>
          <p:nvPr/>
        </p:nvSpPr>
        <p:spPr>
          <a:xfrm>
            <a:off x="4663440" y="250063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in Plain English</a:t>
            </a:r>
            <a:endParaRPr lang="en-US" sz="13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A3CC50A-5214-331F-4ECE-937BCC8D6589}"/>
              </a:ext>
            </a:extLst>
          </p:cNvPr>
          <p:cNvSpPr/>
          <p:nvPr/>
        </p:nvSpPr>
        <p:spPr>
          <a:xfrm>
            <a:off x="4681728" y="293039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describes the data need in natural language</a:t>
            </a:r>
            <a:endParaRPr lang="en-US" sz="95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A785ED93-6900-7C2E-8BFE-9129AF9DB8DB}"/>
              </a:ext>
            </a:extLst>
          </p:cNvPr>
          <p:cNvSpPr/>
          <p:nvPr/>
        </p:nvSpPr>
        <p:spPr>
          <a:xfrm>
            <a:off x="6204204" y="245948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7F956D6A-D283-5918-7C14-92EBB9BB5FEF}"/>
              </a:ext>
            </a:extLst>
          </p:cNvPr>
          <p:cNvSpPr/>
          <p:nvPr/>
        </p:nvSpPr>
        <p:spPr>
          <a:xfrm>
            <a:off x="6364224" y="172339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4816342E-173D-BAD6-07B3-FAE4CA1CD00E}"/>
              </a:ext>
            </a:extLst>
          </p:cNvPr>
          <p:cNvSpPr/>
          <p:nvPr/>
        </p:nvSpPr>
        <p:spPr>
          <a:xfrm>
            <a:off x="6922008" y="188798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2" descr="preencoded.png">
            <a:extLst>
              <a:ext uri="{FF2B5EF4-FFF2-40B4-BE49-F238E27FC236}">
                <a16:creationId xmlns:a16="http://schemas.microsoft.com/office/drawing/2014/main" id="{943BD6DC-5042-887A-0CEC-1D31FC7BD5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1736" y="1997710"/>
            <a:ext cx="292608" cy="292608"/>
          </a:xfrm>
          <a:prstGeom prst="rect">
            <a:avLst/>
          </a:prstGeom>
        </p:spPr>
      </p:pic>
      <p:sp>
        <p:nvSpPr>
          <p:cNvPr id="28" name="Text 23">
            <a:extLst>
              <a:ext uri="{FF2B5EF4-FFF2-40B4-BE49-F238E27FC236}">
                <a16:creationId xmlns:a16="http://schemas.microsoft.com/office/drawing/2014/main" id="{BD1E7D4F-1DCC-33D7-AF63-C14E267E6218}"/>
              </a:ext>
            </a:extLst>
          </p:cNvPr>
          <p:cNvSpPr/>
          <p:nvPr/>
        </p:nvSpPr>
        <p:spPr>
          <a:xfrm>
            <a:off x="6455664" y="250063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Asset Menu</a:t>
            </a:r>
            <a:endParaRPr lang="en-US" sz="1300" dirty="0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32FC97D0-1165-B987-E7D6-AE4DB73F6EF2}"/>
              </a:ext>
            </a:extLst>
          </p:cNvPr>
          <p:cNvSpPr/>
          <p:nvPr/>
        </p:nvSpPr>
        <p:spPr>
          <a:xfrm>
            <a:off x="6473952" y="293039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menu of templates, APIs, and catalogued libraries (~20–30 entries targeted for v1)</a:t>
            </a:r>
            <a:endParaRPr lang="en-US" sz="950" dirty="0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2EF22B8B-1D45-6E5E-A09A-26ADB956612F}"/>
              </a:ext>
            </a:extLst>
          </p:cNvPr>
          <p:cNvSpPr/>
          <p:nvPr/>
        </p:nvSpPr>
        <p:spPr>
          <a:xfrm>
            <a:off x="7996428" y="245948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247DCE85-31B2-E0B4-69CD-2CAC34807160}"/>
              </a:ext>
            </a:extLst>
          </p:cNvPr>
          <p:cNvSpPr/>
          <p:nvPr/>
        </p:nvSpPr>
        <p:spPr>
          <a:xfrm>
            <a:off x="8156448" y="172339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007B8C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09318C15-36BB-D124-B53B-127EFFBC62C7}"/>
              </a:ext>
            </a:extLst>
          </p:cNvPr>
          <p:cNvSpPr/>
          <p:nvPr/>
        </p:nvSpPr>
        <p:spPr>
          <a:xfrm>
            <a:off x="8714232" y="188798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3" descr="preencoded.png">
            <a:extLst>
              <a:ext uri="{FF2B5EF4-FFF2-40B4-BE49-F238E27FC236}">
                <a16:creationId xmlns:a16="http://schemas.microsoft.com/office/drawing/2014/main" id="{6E26EC55-00DA-5CE2-CBFE-2524BA3306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1997710"/>
            <a:ext cx="292608" cy="292608"/>
          </a:xfrm>
          <a:prstGeom prst="rect">
            <a:avLst/>
          </a:prstGeom>
        </p:spPr>
      </p:pic>
      <p:sp>
        <p:nvSpPr>
          <p:cNvPr id="34" name="Text 28">
            <a:extLst>
              <a:ext uri="{FF2B5EF4-FFF2-40B4-BE49-F238E27FC236}">
                <a16:creationId xmlns:a16="http://schemas.microsoft.com/office/drawing/2014/main" id="{736409D6-8039-7C31-1CD2-A0AAB59B9B7C}"/>
              </a:ext>
            </a:extLst>
          </p:cNvPr>
          <p:cNvSpPr/>
          <p:nvPr/>
        </p:nvSpPr>
        <p:spPr>
          <a:xfrm>
            <a:off x="8247888" y="250063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Trial Run</a:t>
            </a:r>
            <a:endParaRPr lang="en-US" sz="1300" dirty="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40B0E559-23A5-5103-0FE6-E94589EF828B}"/>
              </a:ext>
            </a:extLst>
          </p:cNvPr>
          <p:cNvSpPr/>
          <p:nvPr/>
        </p:nvSpPr>
        <p:spPr>
          <a:xfrm>
            <a:off x="8266176" y="293039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 rows / size / frequency — see real sample results before trusting it</a:t>
            </a:r>
            <a:endParaRPr lang="en-US" sz="950" dirty="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0DC86702-5F05-A860-0D66-46C04FF5D729}"/>
              </a:ext>
            </a:extLst>
          </p:cNvPr>
          <p:cNvSpPr/>
          <p:nvPr/>
        </p:nvSpPr>
        <p:spPr>
          <a:xfrm>
            <a:off x="9788652" y="245948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FBE3B97B-E9A0-4BA4-9F6A-EFBF845F2C61}"/>
              </a:ext>
            </a:extLst>
          </p:cNvPr>
          <p:cNvSpPr/>
          <p:nvPr/>
        </p:nvSpPr>
        <p:spPr>
          <a:xfrm>
            <a:off x="9948672" y="172339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2">
            <a:extLst>
              <a:ext uri="{FF2B5EF4-FFF2-40B4-BE49-F238E27FC236}">
                <a16:creationId xmlns:a16="http://schemas.microsoft.com/office/drawing/2014/main" id="{76925576-7A23-7178-B14F-298582E24D03}"/>
              </a:ext>
            </a:extLst>
          </p:cNvPr>
          <p:cNvSpPr/>
          <p:nvPr/>
        </p:nvSpPr>
        <p:spPr>
          <a:xfrm>
            <a:off x="10506456" y="188798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4" descr="preencoded.png">
            <a:extLst>
              <a:ext uri="{FF2B5EF4-FFF2-40B4-BE49-F238E27FC236}">
                <a16:creationId xmlns:a16="http://schemas.microsoft.com/office/drawing/2014/main" id="{71780C7C-160A-EF72-D5FD-C5AFD0AB36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1997710"/>
            <a:ext cx="292608" cy="292608"/>
          </a:xfrm>
          <a:prstGeom prst="rect">
            <a:avLst/>
          </a:prstGeom>
        </p:spPr>
      </p:pic>
      <p:sp>
        <p:nvSpPr>
          <p:cNvPr id="40" name="Text 33">
            <a:extLst>
              <a:ext uri="{FF2B5EF4-FFF2-40B4-BE49-F238E27FC236}">
                <a16:creationId xmlns:a16="http://schemas.microsoft.com/office/drawing/2014/main" id="{61EBC79C-AC8E-9F91-005C-FAAABB459DEA}"/>
              </a:ext>
            </a:extLst>
          </p:cNvPr>
          <p:cNvSpPr/>
          <p:nvPr/>
        </p:nvSpPr>
        <p:spPr>
          <a:xfrm>
            <a:off x="10040112" y="250063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Execution</a:t>
            </a:r>
            <a:endParaRPr lang="en-US" sz="1300" dirty="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8073F58E-75C4-6F0C-CC40-9F268BC74F4F}"/>
              </a:ext>
            </a:extLst>
          </p:cNvPr>
          <p:cNvSpPr/>
          <p:nvPr/>
        </p:nvSpPr>
        <p:spPr>
          <a:xfrm>
            <a:off x="10058400" y="293039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Requestor confirms → full query runs against production data</a:t>
            </a:r>
            <a:endParaRPr lang="en-US" sz="950" dirty="0"/>
          </a:p>
        </p:txBody>
      </p:sp>
      <p:sp>
        <p:nvSpPr>
          <p:cNvPr id="42" name="Shape 35">
            <a:extLst>
              <a:ext uri="{FF2B5EF4-FFF2-40B4-BE49-F238E27FC236}">
                <a16:creationId xmlns:a16="http://schemas.microsoft.com/office/drawing/2014/main" id="{6CBA510E-2B0B-A872-AF85-BC60089206D5}"/>
              </a:ext>
            </a:extLst>
          </p:cNvPr>
          <p:cNvSpPr/>
          <p:nvPr/>
        </p:nvSpPr>
        <p:spPr>
          <a:xfrm>
            <a:off x="4572000" y="37592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CED61703-3929-8326-3F9D-95A61BAE99A9}"/>
              </a:ext>
            </a:extLst>
          </p:cNvPr>
          <p:cNvSpPr/>
          <p:nvPr/>
        </p:nvSpPr>
        <p:spPr>
          <a:xfrm>
            <a:off x="4709160" y="38689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Menu</a:t>
            </a:r>
            <a:endParaRPr lang="en-US" sz="2000" dirty="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F0C504BC-3887-2EEB-C659-825CDC948078}"/>
              </a:ext>
            </a:extLst>
          </p:cNvPr>
          <p:cNvSpPr/>
          <p:nvPr/>
        </p:nvSpPr>
        <p:spPr>
          <a:xfrm>
            <a:off x="4736592" y="43809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+ APIs + catalogued Libraries share one metadata schema</a:t>
            </a:r>
            <a:endParaRPr lang="en-US" sz="1050" dirty="0"/>
          </a:p>
        </p:txBody>
      </p:sp>
      <p:sp>
        <p:nvSpPr>
          <p:cNvPr id="45" name="Shape 38">
            <a:extLst>
              <a:ext uri="{FF2B5EF4-FFF2-40B4-BE49-F238E27FC236}">
                <a16:creationId xmlns:a16="http://schemas.microsoft.com/office/drawing/2014/main" id="{4F9CD8E3-C409-5920-8940-5AC22B5F6E09}"/>
              </a:ext>
            </a:extLst>
          </p:cNvPr>
          <p:cNvSpPr/>
          <p:nvPr/>
        </p:nvSpPr>
        <p:spPr>
          <a:xfrm>
            <a:off x="7040880" y="37592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9">
            <a:extLst>
              <a:ext uri="{FF2B5EF4-FFF2-40B4-BE49-F238E27FC236}">
                <a16:creationId xmlns:a16="http://schemas.microsoft.com/office/drawing/2014/main" id="{ACEAA6FF-503D-C9A0-8EDA-C2EBE8DB121F}"/>
              </a:ext>
            </a:extLst>
          </p:cNvPr>
          <p:cNvSpPr/>
          <p:nvPr/>
        </p:nvSpPr>
        <p:spPr>
          <a:xfrm>
            <a:off x="7178040" y="38689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1000+</a:t>
            </a:r>
            <a:endParaRPr lang="en-US" sz="3000" dirty="0"/>
          </a:p>
        </p:txBody>
      </p:sp>
      <p:sp>
        <p:nvSpPr>
          <p:cNvPr id="47" name="Text 40">
            <a:extLst>
              <a:ext uri="{FF2B5EF4-FFF2-40B4-BE49-F238E27FC236}">
                <a16:creationId xmlns:a16="http://schemas.microsoft.com/office/drawing/2014/main" id="{4EE1D108-EC74-42A5-AB2A-44C0D0C4C48A}"/>
              </a:ext>
            </a:extLst>
          </p:cNvPr>
          <p:cNvSpPr/>
          <p:nvPr/>
        </p:nvSpPr>
        <p:spPr>
          <a:xfrm>
            <a:off x="7205472" y="43809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queries being compiled into the template corpus</a:t>
            </a:r>
            <a:endParaRPr lang="en-US" sz="1050" dirty="0"/>
          </a:p>
        </p:txBody>
      </p:sp>
      <p:sp>
        <p:nvSpPr>
          <p:cNvPr id="48" name="Shape 41">
            <a:extLst>
              <a:ext uri="{FF2B5EF4-FFF2-40B4-BE49-F238E27FC236}">
                <a16:creationId xmlns:a16="http://schemas.microsoft.com/office/drawing/2014/main" id="{0078CE3A-A1AB-4AC4-2DB3-CCBBF4D62972}"/>
              </a:ext>
            </a:extLst>
          </p:cNvPr>
          <p:cNvSpPr/>
          <p:nvPr/>
        </p:nvSpPr>
        <p:spPr>
          <a:xfrm>
            <a:off x="9509760" y="37592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2">
            <a:extLst>
              <a:ext uri="{FF2B5EF4-FFF2-40B4-BE49-F238E27FC236}">
                <a16:creationId xmlns:a16="http://schemas.microsoft.com/office/drawing/2014/main" id="{BAB23A1B-8F0B-B219-6DFE-D539DBD32DE6}"/>
              </a:ext>
            </a:extLst>
          </p:cNvPr>
          <p:cNvSpPr/>
          <p:nvPr/>
        </p:nvSpPr>
        <p:spPr>
          <a:xfrm>
            <a:off x="9646920" y="38689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 Only</a:t>
            </a:r>
            <a:endParaRPr lang="en-US" sz="2000" dirty="0"/>
          </a:p>
        </p:txBody>
      </p:sp>
      <p:sp>
        <p:nvSpPr>
          <p:cNvPr id="50" name="Text 43">
            <a:extLst>
              <a:ext uri="{FF2B5EF4-FFF2-40B4-BE49-F238E27FC236}">
                <a16:creationId xmlns:a16="http://schemas.microsoft.com/office/drawing/2014/main" id="{4F136830-FDE9-962C-A279-F296DC0561E5}"/>
              </a:ext>
            </a:extLst>
          </p:cNvPr>
          <p:cNvSpPr/>
          <p:nvPr/>
        </p:nvSpPr>
        <p:spPr>
          <a:xfrm>
            <a:off x="9674352" y="43809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cloud LLM — GTO's internal-agent routing rule applies</a:t>
            </a:r>
            <a:endParaRPr lang="en-US" sz="1050" dirty="0"/>
          </a:p>
        </p:txBody>
      </p:sp>
      <p:sp>
        <p:nvSpPr>
          <p:cNvPr id="51" name="Shape 44">
            <a:extLst>
              <a:ext uri="{FF2B5EF4-FFF2-40B4-BE49-F238E27FC236}">
                <a16:creationId xmlns:a16="http://schemas.microsoft.com/office/drawing/2014/main" id="{27FC3565-5760-F012-7D6B-83D4778A6A69}"/>
              </a:ext>
            </a:extLst>
          </p:cNvPr>
          <p:cNvSpPr/>
          <p:nvPr/>
        </p:nvSpPr>
        <p:spPr>
          <a:xfrm>
            <a:off x="4572000" y="5111750"/>
            <a:ext cx="7223760" cy="123444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5" descr="preencoded.png">
            <a:extLst>
              <a:ext uri="{FF2B5EF4-FFF2-40B4-BE49-F238E27FC236}">
                <a16:creationId xmlns:a16="http://schemas.microsoft.com/office/drawing/2014/main" id="{1EF85F91-B9BA-2960-8C0E-D4680E044A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5276342"/>
            <a:ext cx="365760" cy="365760"/>
          </a:xfrm>
          <a:prstGeom prst="rect">
            <a:avLst/>
          </a:prstGeom>
        </p:spPr>
      </p:pic>
      <p:sp>
        <p:nvSpPr>
          <p:cNvPr id="53" name="Text 45">
            <a:extLst>
              <a:ext uri="{FF2B5EF4-FFF2-40B4-BE49-F238E27FC236}">
                <a16:creationId xmlns:a16="http://schemas.microsoft.com/office/drawing/2014/main" id="{21A8C45A-1BFE-B731-4187-72BF927660B4}"/>
              </a:ext>
            </a:extLst>
          </p:cNvPr>
          <p:cNvSpPr/>
          <p:nvPr/>
        </p:nvSpPr>
        <p:spPr>
          <a:xfrm>
            <a:off x="5285232" y="524891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ACTIONS</a:t>
            </a:r>
            <a:endParaRPr lang="en-US" sz="1250" dirty="0"/>
          </a:p>
        </p:txBody>
      </p:sp>
      <p:sp>
        <p:nvSpPr>
          <p:cNvPr id="54" name="Text 46">
            <a:extLst>
              <a:ext uri="{FF2B5EF4-FFF2-40B4-BE49-F238E27FC236}">
                <a16:creationId xmlns:a16="http://schemas.microsoft.com/office/drawing/2014/main" id="{F118A0F3-64B5-D566-2144-89BF1BF90778}"/>
              </a:ext>
            </a:extLst>
          </p:cNvPr>
          <p:cNvSpPr/>
          <p:nvPr/>
        </p:nvSpPr>
        <p:spPr>
          <a:xfrm>
            <a:off x="4663440" y="5678678"/>
            <a:ext cx="6903720" cy="61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1000+ example query corpus from real-world queries — no dependencies, start now</a:t>
            </a:r>
            <a:endParaRPr lang="en-US" sz="1100" dirty="0"/>
          </a:p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Assets Inventory and Menu: catalog Libraries (with metadata) + APIs (with signatures) into one shared schema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954790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2EFF-ABD4-B9CE-8677-391F54DB2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CF96C1-85FD-E1C0-D795-3C5710FCCCCD}"/>
              </a:ext>
            </a:extLst>
          </p:cNvPr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2789FA-E5A4-E9C9-D36B-77045DDDF015}"/>
              </a:ext>
            </a:extLst>
          </p:cNvPr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BFC742F0-920B-37DC-058E-541F4E4EE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F8DB3D9-6ACD-99CC-B8A6-5A4BB4348072}"/>
              </a:ext>
            </a:extLst>
          </p:cNvPr>
          <p:cNvSpPr/>
          <p:nvPr/>
        </p:nvSpPr>
        <p:spPr>
          <a:xfrm>
            <a:off x="1170432" y="429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SaaS for AI Agents</a:t>
            </a:r>
            <a:endParaRPr lang="en-US" sz="2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DFE85AE-4D5F-6E2E-2FCA-A6088E1D7675}"/>
              </a:ext>
            </a:extLst>
          </p:cNvPr>
          <p:cNvSpPr/>
          <p:nvPr/>
        </p:nvSpPr>
        <p:spPr>
          <a:xfrm>
            <a:off x="457200" y="117043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Agent-Native WSD Data SaaS Consumption</a:t>
            </a:r>
            <a:endParaRPr lang="en-US" sz="13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FFED461-493C-C880-6D1D-B314DD36C7AF}"/>
              </a:ext>
            </a:extLst>
          </p:cNvPr>
          <p:cNvSpPr/>
          <p:nvPr/>
        </p:nvSpPr>
        <p:spPr>
          <a:xfrm>
            <a:off x="457200" y="17373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CONSTRAINT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1764FE-8240-7F0D-7635-983ED4FB89DB}"/>
              </a:ext>
            </a:extLst>
          </p:cNvPr>
          <p:cNvSpPr/>
          <p:nvPr/>
        </p:nvSpPr>
        <p:spPr>
          <a:xfrm>
            <a:off x="457200" y="1993392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GTO permits only on-prem Vectara RAG deployment. Approved models sit well below Claude/ChatGPT-class accuracy — why v1 keeps the LLM narrow.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ECC7846-0706-FEE5-56CC-60789C566058}"/>
              </a:ext>
            </a:extLst>
          </p:cNvPr>
          <p:cNvSpPr/>
          <p:nvPr/>
        </p:nvSpPr>
        <p:spPr>
          <a:xfrm>
            <a:off x="457200" y="3063240"/>
            <a:ext cx="54864" cy="1280160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2811C0E-A3B1-6FF2-AC8C-1B59C222E825}"/>
              </a:ext>
            </a:extLst>
          </p:cNvPr>
          <p:cNvSpPr/>
          <p:nvPr/>
        </p:nvSpPr>
        <p:spPr>
          <a:xfrm>
            <a:off x="640080" y="3063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1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97FA723-B6BC-BB8A-5008-66CA65ADA511}"/>
              </a:ext>
            </a:extLst>
          </p:cNvPr>
          <p:cNvSpPr/>
          <p:nvPr/>
        </p:nvSpPr>
        <p:spPr>
          <a:xfrm>
            <a:off x="640080" y="33192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gap closes, the Asset Menu's metadata schema doubles as a tool schema — the Agent plans and chains its own calls, not one-shot matching.</a:t>
            </a:r>
            <a:endParaRPr lang="en-US" sz="12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9FF208A-CFB6-30E2-0B49-54C08A41901B}"/>
              </a:ext>
            </a:extLst>
          </p:cNvPr>
          <p:cNvSpPr/>
          <p:nvPr/>
        </p:nvSpPr>
        <p:spPr>
          <a:xfrm>
            <a:off x="457200" y="4526280"/>
            <a:ext cx="54864" cy="868680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4CD4404-5386-F022-B456-9D017DAE7492}"/>
              </a:ext>
            </a:extLst>
          </p:cNvPr>
          <p:cNvSpPr/>
          <p:nvPr/>
        </p:nvSpPr>
        <p:spPr>
          <a:xfrm>
            <a:off x="640080" y="45262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NOT CHANGE</a:t>
            </a:r>
            <a:endParaRPr lang="en-US" sz="1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952E20D-9274-BD28-4188-39F7983CC7B1}"/>
              </a:ext>
            </a:extLst>
          </p:cNvPr>
          <p:cNvSpPr/>
          <p:nvPr/>
        </p:nvSpPr>
        <p:spPr>
          <a:xfrm>
            <a:off x="640080" y="47823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sandbox trial-run + human-confirmation gate stays mandatory, no matter how capable the model gets.</a:t>
            </a:r>
            <a:endParaRPr lang="en-US" sz="11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3DF4022-9E51-776B-C817-841920D610E8}"/>
              </a:ext>
            </a:extLst>
          </p:cNvPr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9525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F3BAC0E-D1F0-438F-4871-A8D575266CF6}"/>
              </a:ext>
            </a:extLst>
          </p:cNvPr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direction — not scheduled</a:t>
            </a:r>
            <a:endParaRPr lang="en-US" sz="105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4881B24A-FF12-71E4-B247-0E913D45769D}"/>
              </a:ext>
            </a:extLst>
          </p:cNvPr>
          <p:cNvSpPr/>
          <p:nvPr/>
        </p:nvSpPr>
        <p:spPr>
          <a:xfrm>
            <a:off x="4572000" y="3657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— V2</a:t>
            </a:r>
            <a:endParaRPr lang="en-US" sz="19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A930537-CE02-B377-925A-CA47EC30D7EF}"/>
              </a:ext>
            </a:extLst>
          </p:cNvPr>
          <p:cNvSpPr/>
          <p:nvPr/>
        </p:nvSpPr>
        <p:spPr>
          <a:xfrm>
            <a:off x="4572000" y="74980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AI Agents consume the Assets Inventory/Menu directly as callable tools</a:t>
            </a:r>
            <a:endParaRPr lang="en-US" sz="125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ACE37D58-F6FE-6E41-2A37-9338CE755785}"/>
              </a:ext>
            </a:extLst>
          </p:cNvPr>
          <p:cNvSpPr/>
          <p:nvPr/>
        </p:nvSpPr>
        <p:spPr>
          <a:xfrm>
            <a:off x="4762500" y="1234440"/>
            <a:ext cx="3048000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FE3271C-CC45-51EA-ECEA-0318596ADD20}"/>
              </a:ext>
            </a:extLst>
          </p:cNvPr>
          <p:cNvSpPr/>
          <p:nvPr/>
        </p:nvSpPr>
        <p:spPr>
          <a:xfrm>
            <a:off x="6030468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>
            <a:extLst>
              <a:ext uri="{FF2B5EF4-FFF2-40B4-BE49-F238E27FC236}">
                <a16:creationId xmlns:a16="http://schemas.microsoft.com/office/drawing/2014/main" id="{4EFB9DD5-97C2-DF35-5D78-653585754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196" y="1508760"/>
            <a:ext cx="292608" cy="292608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D62EB679-0128-C79B-AD65-F28111D1FFC8}"/>
              </a:ext>
            </a:extLst>
          </p:cNvPr>
          <p:cNvSpPr/>
          <p:nvPr/>
        </p:nvSpPr>
        <p:spPr>
          <a:xfrm>
            <a:off x="4945380" y="201168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NL-Classifier</a:t>
            </a:r>
            <a:endParaRPr lang="en-US" sz="13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1F7B3960-BBDB-F78E-D36F-FA8E91EE51E9}"/>
              </a:ext>
            </a:extLst>
          </p:cNvPr>
          <p:cNvSpPr/>
          <p:nvPr/>
        </p:nvSpPr>
        <p:spPr>
          <a:xfrm>
            <a:off x="4945380" y="2441448"/>
            <a:ext cx="268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one template, extract a few parameters — today's narrow, low-risk scope</a:t>
            </a:r>
            <a:endParaRPr lang="en-US" sz="95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E427F744-219E-3CD6-4195-D32C4369348E}"/>
              </a:ext>
            </a:extLst>
          </p:cNvPr>
          <p:cNvSpPr/>
          <p:nvPr/>
        </p:nvSpPr>
        <p:spPr>
          <a:xfrm>
            <a:off x="8068056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29EB9376-A55E-42FA-4FB9-0629961BB56D}"/>
              </a:ext>
            </a:extLst>
          </p:cNvPr>
          <p:cNvSpPr/>
          <p:nvPr/>
        </p:nvSpPr>
        <p:spPr>
          <a:xfrm>
            <a:off x="8481060" y="1234440"/>
            <a:ext cx="3048000" cy="1874520"/>
          </a:xfrm>
          <a:prstGeom prst="roundRect">
            <a:avLst>
              <a:gd name="adj" fmla="val 5056"/>
            </a:avLst>
          </a:prstGeom>
          <a:solidFill>
            <a:srgbClr val="007B8C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CD244EA9-5939-193C-8C2D-41282009B40C}"/>
              </a:ext>
            </a:extLst>
          </p:cNvPr>
          <p:cNvSpPr/>
          <p:nvPr/>
        </p:nvSpPr>
        <p:spPr>
          <a:xfrm>
            <a:off x="9749028" y="139903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2" descr="preencoded.png">
            <a:extLst>
              <a:ext uri="{FF2B5EF4-FFF2-40B4-BE49-F238E27FC236}">
                <a16:creationId xmlns:a16="http://schemas.microsoft.com/office/drawing/2014/main" id="{25715E26-65BE-59B3-72B3-2F55A0BE2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8756" y="1508760"/>
            <a:ext cx="292608" cy="292608"/>
          </a:xfrm>
          <a:prstGeom prst="rect">
            <a:avLst/>
          </a:prstGeom>
        </p:spPr>
      </p:pic>
      <p:sp>
        <p:nvSpPr>
          <p:cNvPr id="28" name="Text 23">
            <a:extLst>
              <a:ext uri="{FF2B5EF4-FFF2-40B4-BE49-F238E27FC236}">
                <a16:creationId xmlns:a16="http://schemas.microsoft.com/office/drawing/2014/main" id="{1D32E2D9-9642-AC87-385E-FEFEAB86B01D}"/>
              </a:ext>
            </a:extLst>
          </p:cNvPr>
          <p:cNvSpPr/>
          <p:nvPr/>
        </p:nvSpPr>
        <p:spPr>
          <a:xfrm>
            <a:off x="8663940" y="201168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Tool-Using Agent</a:t>
            </a:r>
            <a:endParaRPr lang="en-US" sz="1300" dirty="0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FBA59606-1689-370E-0511-8F8690732933}"/>
              </a:ext>
            </a:extLst>
          </p:cNvPr>
          <p:cNvSpPr/>
          <p:nvPr/>
        </p:nvSpPr>
        <p:spPr>
          <a:xfrm>
            <a:off x="8663940" y="2441448"/>
            <a:ext cx="268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chains its own calls across the Asset Menu — once the accuracy gap closes</a:t>
            </a:r>
            <a:endParaRPr lang="en-US" sz="950" dirty="0"/>
          </a:p>
        </p:txBody>
      </p:sp>
      <p:sp>
        <p:nvSpPr>
          <p:cNvPr id="42" name="Shape 35">
            <a:extLst>
              <a:ext uri="{FF2B5EF4-FFF2-40B4-BE49-F238E27FC236}">
                <a16:creationId xmlns:a16="http://schemas.microsoft.com/office/drawing/2014/main" id="{957B9C6A-BBB4-FFDF-1FA7-0EB5BE5B9D61}"/>
              </a:ext>
            </a:extLst>
          </p:cNvPr>
          <p:cNvSpPr/>
          <p:nvPr/>
        </p:nvSpPr>
        <p:spPr>
          <a:xfrm>
            <a:off x="457200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3A73F4FD-3BF5-D5FC-FFA1-ADA7B072EA46}"/>
              </a:ext>
            </a:extLst>
          </p:cNvPr>
          <p:cNvSpPr/>
          <p:nvPr/>
        </p:nvSpPr>
        <p:spPr>
          <a:xfrm>
            <a:off x="470916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GTO Policy</a:t>
            </a:r>
            <a:endParaRPr lang="en-US" sz="2000" dirty="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B8AA3E5C-55CB-52B3-D391-ACE4E8D9672A}"/>
              </a:ext>
            </a:extLst>
          </p:cNvPr>
          <p:cNvSpPr/>
          <p:nvPr/>
        </p:nvSpPr>
        <p:spPr>
          <a:xfrm>
            <a:off x="473659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GTO revisits internal routing, or on-prem models close the accuracy gap</a:t>
            </a:r>
            <a:endParaRPr lang="en-US" sz="1050" dirty="0"/>
          </a:p>
        </p:txBody>
      </p:sp>
      <p:sp>
        <p:nvSpPr>
          <p:cNvPr id="45" name="Shape 38">
            <a:extLst>
              <a:ext uri="{FF2B5EF4-FFF2-40B4-BE49-F238E27FC236}">
                <a16:creationId xmlns:a16="http://schemas.microsoft.com/office/drawing/2014/main" id="{3987711C-BD66-F447-19CE-522C13934AF0}"/>
              </a:ext>
            </a:extLst>
          </p:cNvPr>
          <p:cNvSpPr/>
          <p:nvPr/>
        </p:nvSpPr>
        <p:spPr>
          <a:xfrm>
            <a:off x="704088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9">
            <a:extLst>
              <a:ext uri="{FF2B5EF4-FFF2-40B4-BE49-F238E27FC236}">
                <a16:creationId xmlns:a16="http://schemas.microsoft.com/office/drawing/2014/main" id="{34434291-A7CB-C46F-CF6E-589F10CE02A5}"/>
              </a:ext>
            </a:extLst>
          </p:cNvPr>
          <p:cNvSpPr/>
          <p:nvPr/>
        </p:nvSpPr>
        <p:spPr>
          <a:xfrm>
            <a:off x="717804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Maverick</a:t>
            </a:r>
            <a:endParaRPr lang="en-US" sz="2000" dirty="0"/>
          </a:p>
        </p:txBody>
      </p:sp>
      <p:sp>
        <p:nvSpPr>
          <p:cNvPr id="47" name="Text 40">
            <a:extLst>
              <a:ext uri="{FF2B5EF4-FFF2-40B4-BE49-F238E27FC236}">
                <a16:creationId xmlns:a16="http://schemas.microsoft.com/office/drawing/2014/main" id="{EDD975CE-7DE5-DDAF-98A2-97E59D0DA708}"/>
              </a:ext>
            </a:extLst>
          </p:cNvPr>
          <p:cNvSpPr/>
          <p:nvPr/>
        </p:nvSpPr>
        <p:spPr>
          <a:xfrm>
            <a:off x="720547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Maverick's tool-chaining execution matures past today's Die Inventory Agent pilot</a:t>
            </a:r>
            <a:endParaRPr lang="en-US" sz="1050" dirty="0"/>
          </a:p>
        </p:txBody>
      </p:sp>
      <p:sp>
        <p:nvSpPr>
          <p:cNvPr id="48" name="Shape 41">
            <a:extLst>
              <a:ext uri="{FF2B5EF4-FFF2-40B4-BE49-F238E27FC236}">
                <a16:creationId xmlns:a16="http://schemas.microsoft.com/office/drawing/2014/main" id="{6A006432-2671-0170-C92A-F8221288A37A}"/>
              </a:ext>
            </a:extLst>
          </p:cNvPr>
          <p:cNvSpPr/>
          <p:nvPr/>
        </p:nvSpPr>
        <p:spPr>
          <a:xfrm>
            <a:off x="950976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2">
            <a:extLst>
              <a:ext uri="{FF2B5EF4-FFF2-40B4-BE49-F238E27FC236}">
                <a16:creationId xmlns:a16="http://schemas.microsoft.com/office/drawing/2014/main" id="{EF6E77AF-3770-C3E0-7451-894902B74F22}"/>
              </a:ext>
            </a:extLst>
          </p:cNvPr>
          <p:cNvSpPr/>
          <p:nvPr/>
        </p:nvSpPr>
        <p:spPr>
          <a:xfrm>
            <a:off x="964692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Corpus</a:t>
            </a:r>
            <a:endParaRPr lang="en-US" sz="2000" dirty="0"/>
          </a:p>
        </p:txBody>
      </p:sp>
      <p:sp>
        <p:nvSpPr>
          <p:cNvPr id="50" name="Text 43">
            <a:extLst>
              <a:ext uri="{FF2B5EF4-FFF2-40B4-BE49-F238E27FC236}">
                <a16:creationId xmlns:a16="http://schemas.microsoft.com/office/drawing/2014/main" id="{393F1E5E-3730-C883-2571-24A9F0D52B97}"/>
              </a:ext>
            </a:extLst>
          </p:cNvPr>
          <p:cNvSpPr/>
          <p:nvPr/>
        </p:nvSpPr>
        <p:spPr>
          <a:xfrm>
            <a:off x="967435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Confirmed-query corpus, large enough to regression-test a wider agent</a:t>
            </a:r>
            <a:endParaRPr lang="en-US" sz="1050" dirty="0"/>
          </a:p>
        </p:txBody>
      </p:sp>
      <p:sp>
        <p:nvSpPr>
          <p:cNvPr id="51" name="Shape 44">
            <a:extLst>
              <a:ext uri="{FF2B5EF4-FFF2-40B4-BE49-F238E27FC236}">
                <a16:creationId xmlns:a16="http://schemas.microsoft.com/office/drawing/2014/main" id="{24249A4C-5425-60F2-18EC-CD2598B31F78}"/>
              </a:ext>
            </a:extLst>
          </p:cNvPr>
          <p:cNvSpPr/>
          <p:nvPr/>
        </p:nvSpPr>
        <p:spPr>
          <a:xfrm>
            <a:off x="4572000" y="5029200"/>
            <a:ext cx="7223760" cy="141732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5" descr="preencoded.png">
            <a:extLst>
              <a:ext uri="{FF2B5EF4-FFF2-40B4-BE49-F238E27FC236}">
                <a16:creationId xmlns:a16="http://schemas.microsoft.com/office/drawing/2014/main" id="{CFE8C94E-2B6B-585E-1F71-F1D14195E9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5193792"/>
            <a:ext cx="365760" cy="365760"/>
          </a:xfrm>
          <a:prstGeom prst="rect">
            <a:avLst/>
          </a:prstGeom>
        </p:spPr>
      </p:pic>
      <p:sp>
        <p:nvSpPr>
          <p:cNvPr id="53" name="Text 45">
            <a:extLst>
              <a:ext uri="{FF2B5EF4-FFF2-40B4-BE49-F238E27FC236}">
                <a16:creationId xmlns:a16="http://schemas.microsoft.com/office/drawing/2014/main" id="{BCAEF583-CFB3-2DE7-BDEA-6D207089A04B}"/>
              </a:ext>
            </a:extLst>
          </p:cNvPr>
          <p:cNvSpPr/>
          <p:nvPr/>
        </p:nvSpPr>
        <p:spPr>
          <a:xfrm>
            <a:off x="5285232" y="5166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V1/V2 DEPENDENCY</a:t>
            </a:r>
            <a:endParaRPr lang="en-US" sz="1250" dirty="0"/>
          </a:p>
        </p:txBody>
      </p:sp>
      <p:sp>
        <p:nvSpPr>
          <p:cNvPr id="54" name="Text 46">
            <a:extLst>
              <a:ext uri="{FF2B5EF4-FFF2-40B4-BE49-F238E27FC236}">
                <a16:creationId xmlns:a16="http://schemas.microsoft.com/office/drawing/2014/main" id="{E965E349-DB6C-3C26-F535-A7002199D7A9}"/>
              </a:ext>
            </a:extLst>
          </p:cNvPr>
          <p:cNvSpPr/>
          <p:nvPr/>
        </p:nvSpPr>
        <p:spPr>
          <a:xfrm>
            <a:off x="4800600" y="5596128"/>
            <a:ext cx="6766560" cy="684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the Asset </a:t>
            </a:r>
            <a:r>
              <a:rPr lang="en-US" sz="1100" dirty="0" err="1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/Menu's metadata schema tool-call-ready now</a:t>
            </a:r>
            <a:endParaRPr lang="en-US" sz="1100" dirty="0"/>
          </a:p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acts on it until GTO policy or on-prem model accuracy actually closes the gap</a:t>
            </a:r>
          </a:p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cs typeface="Arial" pitchFamily="34" charset="-120"/>
              </a:rPr>
              <a:t>Maximize reuse of V1 modules 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15746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531</Words>
  <Application>Microsoft Office PowerPoint</Application>
  <PresentationFormat>Widescreen</PresentationFormat>
  <Paragraphs>62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 Copilot Highlight</dc:title>
  <dc:subject>PptxGenJS Presentation</dc:subject>
  <dc:creator>Yu Han</dc:creator>
  <cp:lastModifiedBy>Yu Han</cp:lastModifiedBy>
  <cp:revision>5</cp:revision>
  <dcterms:created xsi:type="dcterms:W3CDTF">2026-08-29T23:00:28Z</dcterms:created>
  <dcterms:modified xsi:type="dcterms:W3CDTF">2026-08-30T22:32:31Z</dcterms:modified>
</cp:coreProperties>
</file>