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18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3B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38404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WSD Data Access Co-Pilot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29768" y="11704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access to WSD's data platform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1783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039112"/>
            <a:ext cx="33375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experts hand-write SQL-style queries against the metadata DB, S3, and gDB — each with its own schema, field encodings, and composite identifier formats.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3209544"/>
            <a:ext cx="54864" cy="1078992"/>
          </a:xfrm>
          <a:prstGeom prst="rect">
            <a:avLst/>
          </a:prstGeom>
          <a:solidFill>
            <a:srgbClr val="007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32095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3465576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stakeholder asks in plain English and gets a governed, safe pull in minutes — not a faster way to write SQL, a way to not need to.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4425696"/>
            <a:ext cx="54864" cy="1042416"/>
          </a:xfrm>
          <a:prstGeom prst="rect">
            <a:avLst/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44256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4681728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years of query history show the requests aren't novel — they collapse into a small, known catalog. That's what makes this tractable.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562356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3B4652"/>
          </a:solidFill>
          <a:ln w="12700">
            <a:solidFill>
              <a:srgbClr val="009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8368" y="57424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— v1 design, Sep 2026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0" y="256032"/>
            <a:ext cx="7159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vs FUTURE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4572000" y="694944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tribal-knowledge SQL to a governed natural-language request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0" y="987552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underlying APIs and data — the bottleneck being removed is who can ask.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0" y="1591056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067044" y="1755648"/>
            <a:ext cx="512064" cy="512064"/>
          </a:xfrm>
          <a:prstGeom prst="ellipse">
            <a:avLst/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772" y="1865376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645152" y="2377440"/>
            <a:ext cx="3355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Hours to Days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4645152" y="2798064"/>
            <a:ext cx="3355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queue behind whoever can write SQL; the knowledge lives in a few people's heads, not in any document.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8074152" y="2327148"/>
            <a:ext cx="155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8229600" y="1591056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007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9724644" y="17556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4372" y="1865376"/>
            <a:ext cx="292608" cy="29260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302752" y="2377440"/>
            <a:ext cx="3355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Co-Pilot: Minutes, Self-Serve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8302752" y="2798064"/>
            <a:ext cx="3355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asks in English; a capped sandbox run shows real sample rows before anything touches production.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4572000" y="3593592"/>
            <a:ext cx="226466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4709160" y="3703320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40,000+</a:t>
            </a:r>
            <a:endParaRPr lang="en-US" sz="1800" dirty="0"/>
          </a:p>
        </p:txBody>
      </p:sp>
      <p:sp>
        <p:nvSpPr>
          <p:cNvPr id="33" name="Text 28"/>
          <p:cNvSpPr/>
          <p:nvPr/>
        </p:nvSpPr>
        <p:spPr>
          <a:xfrm>
            <a:off x="4709160" y="4160520"/>
            <a:ext cx="1990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queries mined across 7 years of logs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7019544" y="3593592"/>
            <a:ext cx="226466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7156704" y="3703320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~100+</a:t>
            </a:r>
            <a:endParaRPr lang="en-US" sz="1800" dirty="0"/>
          </a:p>
        </p:txBody>
      </p:sp>
      <p:sp>
        <p:nvSpPr>
          <p:cNvPr id="36" name="Text 31"/>
          <p:cNvSpPr/>
          <p:nvPr/>
        </p:nvSpPr>
        <p:spPr>
          <a:xfrm>
            <a:off x="7156704" y="4160520"/>
            <a:ext cx="1990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v1 catalog entries — not full 40k coverage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9467088" y="3593592"/>
            <a:ext cx="226466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9604248" y="3703320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39" name="Text 34"/>
          <p:cNvSpPr/>
          <p:nvPr/>
        </p:nvSpPr>
        <p:spPr>
          <a:xfrm>
            <a:off x="9604248" y="4160520"/>
            <a:ext cx="1990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net-new data migration — reuses existing APIs as-is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4572000" y="4837176"/>
            <a:ext cx="7159752" cy="1600200"/>
          </a:xfrm>
          <a:prstGeom prst="rect">
            <a:avLst/>
          </a:prstGeom>
          <a:solidFill>
            <a:srgbClr val="EEEF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4910328"/>
            <a:ext cx="329184" cy="329184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230368" y="48920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TRACTABLE NOW</a:t>
            </a:r>
            <a:endParaRPr lang="en-US" sz="1250" dirty="0"/>
          </a:p>
        </p:txBody>
      </p:sp>
      <p:sp>
        <p:nvSpPr>
          <p:cNvPr id="43" name="Text 37"/>
          <p:cNvSpPr/>
          <p:nvPr/>
        </p:nvSpPr>
        <p:spPr>
          <a:xfrm>
            <a:off x="4773168" y="5294376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3B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Deduplicating 7 years of query logs shows a small, finite set of business intents repeats over and over. That turns “understand any business question” (a research problem) into “classify into a known set of intents” (an engineering problem). “v1” means exactly that curated catalog — the first shippable scope, not full coverage of every historical variant.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3B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38404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WSD Data Access Co-Pilot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29768" y="11704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work: one request, stage by stage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1783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 — TODAY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03911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hand-written line, produced by someone who already knows the schema. Hours to days of wait, and nobody else can tell how it was derived.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3017520"/>
            <a:ext cx="54864" cy="1078992"/>
          </a:xfrm>
          <a:prstGeom prst="rect">
            <a:avLst/>
          </a:prstGeom>
          <a:solidFill>
            <a:srgbClr val="007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30175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— WITH CO-PILOT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327355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query comes out the other end — but every stage in between is now a visible, inspectable artifact, not one opaque hand-written line.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4233672"/>
            <a:ext cx="54864" cy="1042416"/>
          </a:xfrm>
          <a:prstGeom prst="rect">
            <a:avLst/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42336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4489704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something's wrong, you can see exactly which stage produced the wrong value — instead of debugging one line with no trace of how it was built.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562356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3B4652"/>
          </a:solidFill>
          <a:ln w="12700">
            <a:solidFill>
              <a:srgbClr val="009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8368" y="57424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example — real domain, real query shape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0" y="256032"/>
            <a:ext cx="7159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 vs POST — ONE REQUEST, STAGE BY STAGE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4572000" y="694944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“Show me OQA test lots for AFEM-8234-AP1 closed since Jan 2026.”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373880" y="6281928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request, same final query text — every step in between is now visible.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0" y="960120"/>
            <a:ext cx="292608" cy="292608"/>
          </a:xfrm>
          <a:prstGeom prst="ellipse">
            <a:avLst/>
          </a:prstGeom>
          <a:solidFill>
            <a:srgbClr val="535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0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956048" y="9418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NL Request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720072" y="9418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572000" y="1271016"/>
            <a:ext cx="71597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09160" y="1271016"/>
            <a:ext cx="6885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B46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"Show me OQA test lots for AFEM-8234-AP1 closed since Jan 2026"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0" y="173736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0" y="1847088"/>
            <a:ext cx="292608" cy="292608"/>
          </a:xfrm>
          <a:prstGeom prst="ellipse">
            <a:avLst/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572000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956048" y="1828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Domain Classify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720072" y="1828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572000" y="2157984"/>
            <a:ext cx="71597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709160" y="2157984"/>
            <a:ext cx="6885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B46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= "be-module"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572000" y="262432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0" y="2734056"/>
            <a:ext cx="292608" cy="292608"/>
          </a:xfrm>
          <a:prstGeom prst="ellipse">
            <a:avLst/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572000" y="2734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956048" y="27157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Template Match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720072" y="2715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572000" y="3044952"/>
            <a:ext cx="71597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709160" y="3044952"/>
            <a:ext cx="6885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B46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= "lot_by_product_test_date"   (be-module domain)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572000" y="3511296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572000" y="3621024"/>
            <a:ext cx="292608" cy="292608"/>
          </a:xfrm>
          <a:prstGeom prst="ellipse">
            <a:avLst/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572000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4956048" y="36027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Parameter Extraction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9720072" y="36027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572000" y="3931920"/>
            <a:ext cx="71597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709160" y="3931920"/>
            <a:ext cx="6885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B46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product: "AFEM-8234-AP1", test_type: "OQA", since: "2026-01-01" }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572000" y="439826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572000" y="4507992"/>
            <a:ext cx="292608" cy="292608"/>
          </a:xfrm>
          <a:prstGeom prst="ellipse">
            <a:avLst/>
          </a:prstGeom>
          <a:solidFill>
            <a:srgbClr val="535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4572000" y="4507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4956048" y="44897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Deterministic Assembly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9720072" y="44897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4572000" y="4818888"/>
            <a:ext cx="71597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4709160" y="4818888"/>
            <a:ext cx="6885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B46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lot where productname like ('AFEM-8234-AP1%')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4572000" y="528523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0" y="5394960"/>
            <a:ext cx="292608" cy="292608"/>
          </a:xfrm>
          <a:prstGeom prst="ellipse">
            <a:avLst/>
          </a:prstGeom>
          <a:solidFill>
            <a:srgbClr val="007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4572000" y="5394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4956048" y="53766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Sandbox Run → Confirm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9720072" y="5376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Gate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572000" y="5705856"/>
            <a:ext cx="71597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4709160" y="5705856"/>
            <a:ext cx="6885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B46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Capped run (≤20 rows) → requestor reviews sample → confirms → full execution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3B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38404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WSD Data Access Co-Pilot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29768" y="11704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pipeline behind every “3 of 9” reference in this deck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1783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COMES FROM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03911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discrete steps, derived from the architecture discussion in the project design doc. This page is the source — not a cross-reference to it.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3017520"/>
            <a:ext cx="54864" cy="1078992"/>
          </a:xfrm>
          <a:prstGeom prst="rect">
            <a:avLst/>
          </a:prstGeom>
          <a:solidFill>
            <a:srgbClr val="007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30175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IT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327355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row (cyan) = the 3 steps that touch a model. Both rows below (white) = the 6 steps that are pure deterministic software.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4233672"/>
            <a:ext cx="54864" cy="1042416"/>
          </a:xfrm>
          <a:prstGeom prst="rect">
            <a:avLst/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42336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4489704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other slide's LLM/deterministic split points back to this map — if a claim elsewhere says “3 of 9,” this is what it's counting.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562356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3B4652"/>
          </a:solidFill>
          <a:ln w="12700">
            <a:solidFill>
              <a:srgbClr val="009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8368" y="57424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— full pipeline detail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0" y="256032"/>
            <a:ext cx="7159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9-STEP PIPELINE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4572000" y="694944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natural-language request, nine discrete, inspectable steps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0" y="987552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touch a model (top row). 6 are deterministic software (below).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0" y="1051560"/>
            <a:ext cx="2264664" cy="1722120"/>
          </a:xfrm>
          <a:prstGeom prst="roundRect">
            <a:avLst>
              <a:gd name="adj" fmla="val 4248"/>
            </a:avLst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81728" y="116128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681728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9200" y="1143000"/>
            <a:ext cx="169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Domain Classify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681728" y="1618488"/>
            <a:ext cx="2045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681728" y="1837944"/>
            <a:ext cx="2045208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request → one of 5-10 known domains.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019544" y="1051560"/>
            <a:ext cx="2264664" cy="1722120"/>
          </a:xfrm>
          <a:prstGeom prst="roundRect">
            <a:avLst>
              <a:gd name="adj" fmla="val 4248"/>
            </a:avLst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129272" y="116128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129272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476744" y="1143000"/>
            <a:ext cx="169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Template Match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129272" y="1618488"/>
            <a:ext cx="2045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129272" y="1837944"/>
            <a:ext cx="2045208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against known catalog entries in that domain.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9467088" y="1051560"/>
            <a:ext cx="2264664" cy="1722120"/>
          </a:xfrm>
          <a:prstGeom prst="roundRect">
            <a:avLst>
              <a:gd name="adj" fmla="val 4248"/>
            </a:avLst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9576816" y="116128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9576816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9924288" y="1143000"/>
            <a:ext cx="169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Parameter Extraction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9576816" y="1618488"/>
            <a:ext cx="2045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9576816" y="1837944"/>
            <a:ext cx="2045208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stated values — dates, product, lot ID.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572000" y="2910840"/>
            <a:ext cx="2264664" cy="1722120"/>
          </a:xfrm>
          <a:prstGeom prst="roundRect">
            <a:avLst>
              <a:gd name="adj" fmla="val 4248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681728" y="3020568"/>
            <a:ext cx="292608" cy="292608"/>
          </a:xfrm>
          <a:prstGeom prst="ellipse">
            <a:avLst/>
          </a:prstGeom>
          <a:solidFill>
            <a:srgbClr val="535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681728" y="3020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029200" y="3002280"/>
            <a:ext cx="169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Composite ID Resolution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4681728" y="3477768"/>
            <a:ext cx="2045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681728" y="3697224"/>
            <a:ext cx="2045208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filenames/patterns from parts — never LLM.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7019544" y="2910840"/>
            <a:ext cx="2264664" cy="1722120"/>
          </a:xfrm>
          <a:prstGeom prst="roundRect">
            <a:avLst>
              <a:gd name="adj" fmla="val 4248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7129272" y="3020568"/>
            <a:ext cx="292608" cy="292608"/>
          </a:xfrm>
          <a:prstGeom prst="ellipse">
            <a:avLst/>
          </a:prstGeom>
          <a:solidFill>
            <a:srgbClr val="535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7129272" y="3020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7476744" y="3002280"/>
            <a:ext cx="169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Multi-Step Chaining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7129272" y="3477768"/>
            <a:ext cx="2045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7129272" y="3697224"/>
            <a:ext cx="2045208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ID hand-off between calls, where needed.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9467088" y="2910840"/>
            <a:ext cx="2264664" cy="1722120"/>
          </a:xfrm>
          <a:prstGeom prst="roundRect">
            <a:avLst>
              <a:gd name="adj" fmla="val 4248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9576816" y="3020568"/>
            <a:ext cx="292608" cy="292608"/>
          </a:xfrm>
          <a:prstGeom prst="ellipse">
            <a:avLst/>
          </a:prstGeom>
          <a:solidFill>
            <a:srgbClr val="535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9576816" y="3020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9924288" y="3002280"/>
            <a:ext cx="169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Query Assembly</a:t>
            </a:r>
            <a:endParaRPr lang="en-US" sz="1150" dirty="0"/>
          </a:p>
        </p:txBody>
      </p:sp>
      <p:sp>
        <p:nvSpPr>
          <p:cNvPr id="54" name="Text 51"/>
          <p:cNvSpPr/>
          <p:nvPr/>
        </p:nvSpPr>
        <p:spPr>
          <a:xfrm>
            <a:off x="9576816" y="3477768"/>
            <a:ext cx="2045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9576816" y="3697224"/>
            <a:ext cx="2045208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 wildcards, IN-lists, date formats.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4572000" y="4770120"/>
            <a:ext cx="2264664" cy="1722120"/>
          </a:xfrm>
          <a:prstGeom prst="roundRect">
            <a:avLst>
              <a:gd name="adj" fmla="val 4248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4681728" y="4879848"/>
            <a:ext cx="292608" cy="292608"/>
          </a:xfrm>
          <a:prstGeom prst="ellipse">
            <a:avLst/>
          </a:prstGeom>
          <a:solidFill>
            <a:srgbClr val="535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4681728" y="487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5029200" y="4861560"/>
            <a:ext cx="169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Sandbox Run</a:t>
            </a:r>
            <a:endParaRPr lang="en-US" sz="1150" dirty="0"/>
          </a:p>
        </p:txBody>
      </p:sp>
      <p:sp>
        <p:nvSpPr>
          <p:cNvPr id="60" name="Text 57"/>
          <p:cNvSpPr/>
          <p:nvPr/>
        </p:nvSpPr>
        <p:spPr>
          <a:xfrm>
            <a:off x="4681728" y="5337048"/>
            <a:ext cx="2045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4681728" y="5556504"/>
            <a:ext cx="2045208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Capped rows/size — nothing real runs yet.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7019544" y="4770120"/>
            <a:ext cx="2264664" cy="1722120"/>
          </a:xfrm>
          <a:prstGeom prst="roundRect">
            <a:avLst>
              <a:gd name="adj" fmla="val 4248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7129272" y="4879848"/>
            <a:ext cx="292608" cy="292608"/>
          </a:xfrm>
          <a:prstGeom prst="ellipse">
            <a:avLst/>
          </a:prstGeom>
          <a:solidFill>
            <a:srgbClr val="535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7129272" y="487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7476744" y="4861560"/>
            <a:ext cx="169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 Confirmed Execution</a:t>
            </a:r>
            <a:endParaRPr lang="en-US" sz="1150" dirty="0"/>
          </a:p>
        </p:txBody>
      </p:sp>
      <p:sp>
        <p:nvSpPr>
          <p:cNvPr id="66" name="Text 63"/>
          <p:cNvSpPr/>
          <p:nvPr/>
        </p:nvSpPr>
        <p:spPr>
          <a:xfrm>
            <a:off x="7129272" y="5337048"/>
            <a:ext cx="2045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7129272" y="5556504"/>
            <a:ext cx="2045208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run once the requestor confirms the sample.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9467088" y="4770120"/>
            <a:ext cx="2264664" cy="1722120"/>
          </a:xfrm>
          <a:prstGeom prst="roundRect">
            <a:avLst>
              <a:gd name="adj" fmla="val 4248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9576816" y="4879848"/>
            <a:ext cx="292608" cy="292608"/>
          </a:xfrm>
          <a:prstGeom prst="ellipse">
            <a:avLst/>
          </a:prstGeom>
          <a:solidFill>
            <a:srgbClr val="535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9576816" y="4879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71" name="Text 68"/>
          <p:cNvSpPr/>
          <p:nvPr/>
        </p:nvSpPr>
        <p:spPr>
          <a:xfrm>
            <a:off x="9924288" y="4861560"/>
            <a:ext cx="169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⑨ Escalation Fallback</a:t>
            </a:r>
            <a:endParaRPr lang="en-US" sz="1150" dirty="0"/>
          </a:p>
        </p:txBody>
      </p:sp>
      <p:sp>
        <p:nvSpPr>
          <p:cNvPr id="72" name="Text 69"/>
          <p:cNvSpPr/>
          <p:nvPr/>
        </p:nvSpPr>
        <p:spPr>
          <a:xfrm>
            <a:off x="9576816" y="5337048"/>
            <a:ext cx="2045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(rule)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9576816" y="5556504"/>
            <a:ext cx="2045208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Low-confidence match → human review → catalog grows.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3B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38404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WSD Data Access Co-Pilot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29768" y="11704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decides WHAT; deterministic software decides HOW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1783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03911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and slot-filling don't need deep reasoning. That's deliberate — it keeps the one part of the pipeline that touches a model narrow and low-risk.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3017520"/>
            <a:ext cx="54864" cy="1078992"/>
          </a:xfrm>
          <a:prstGeom prst="rect">
            <a:avLst/>
          </a:prstGeom>
          <a:solidFill>
            <a:srgbClr val="007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30175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TIER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327355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fast, low-cost model tier fits this task. On-prem or open-weight runtime requirements don't change that — only the model swaps.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4233672"/>
            <a:ext cx="54864" cy="1042416"/>
          </a:xfrm>
          <a:prstGeom prst="rect">
            <a:avLst/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42336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LLM NEVER DOES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4489704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sees production data directly. Never free-generates a query string or assembles composite identifiers — that's a deterministic template fill.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562356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3B4652"/>
          </a:solidFill>
          <a:ln w="12700">
            <a:solidFill>
              <a:srgbClr val="009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8368" y="57424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— LLM scope intentionally narrow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0" y="256032"/>
            <a:ext cx="7159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/ WORKFLOW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4572000" y="694944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9 steps (previous page), grouped here into 4 stages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0" y="987552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1-3 = 1 LLM step each. Card 4 rolls up the other 6 — all deterministic.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0" y="1591056"/>
            <a:ext cx="1673352" cy="1874520"/>
          </a:xfrm>
          <a:prstGeom prst="roundRect">
            <a:avLst>
              <a:gd name="adj" fmla="val 4372"/>
            </a:avLst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152644" y="17556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2372" y="1865376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645152" y="2377440"/>
            <a:ext cx="1527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Classify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4645152" y="2798064"/>
            <a:ext cx="1527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request → 5-10 known domains (LLM, narrow classification).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245352" y="2327148"/>
            <a:ext cx="155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6400800" y="1591056"/>
            <a:ext cx="1673352" cy="1874520"/>
          </a:xfrm>
          <a:prstGeom prst="roundRect">
            <a:avLst>
              <a:gd name="adj" fmla="val 4372"/>
            </a:avLst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6981444" y="17556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172" y="1865376"/>
            <a:ext cx="292608" cy="29260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73952" y="2377440"/>
            <a:ext cx="1527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Match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6473952" y="2798064"/>
            <a:ext cx="1527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against 20-80 catalog entries within the domain (LLM).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8074152" y="2327148"/>
            <a:ext cx="155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32" name="Shape 27"/>
          <p:cNvSpPr/>
          <p:nvPr/>
        </p:nvSpPr>
        <p:spPr>
          <a:xfrm>
            <a:off x="8229600" y="1591056"/>
            <a:ext cx="1673352" cy="1874520"/>
          </a:xfrm>
          <a:prstGeom prst="roundRect">
            <a:avLst>
              <a:gd name="adj" fmla="val 4372"/>
            </a:avLst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8810244" y="17556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9972" y="1865376"/>
            <a:ext cx="292608" cy="29260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8302752" y="2377440"/>
            <a:ext cx="1527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Extract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8302752" y="2798064"/>
            <a:ext cx="1527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stated values — dates, product, lot ID (LLM, slot-filling).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9902952" y="2327148"/>
            <a:ext cx="155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38" name="Shape 32"/>
          <p:cNvSpPr/>
          <p:nvPr/>
        </p:nvSpPr>
        <p:spPr>
          <a:xfrm>
            <a:off x="10058400" y="1591056"/>
            <a:ext cx="1673352" cy="1874520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10639044" y="1755648"/>
            <a:ext cx="512064" cy="512064"/>
          </a:xfrm>
          <a:prstGeom prst="ellipse">
            <a:avLst/>
          </a:prstGeom>
          <a:solidFill>
            <a:srgbClr val="53565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8772" y="1865376"/>
            <a:ext cx="292608" cy="29260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0131552" y="2377440"/>
            <a:ext cx="1527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Execute</a:t>
            </a:r>
            <a:endParaRPr lang="en-US" sz="1250" dirty="0"/>
          </a:p>
        </p:txBody>
      </p:sp>
      <p:sp>
        <p:nvSpPr>
          <p:cNvPr id="42" name="Text 35"/>
          <p:cNvSpPr/>
          <p:nvPr/>
        </p:nvSpPr>
        <p:spPr>
          <a:xfrm>
            <a:off x="10131552" y="2798064"/>
            <a:ext cx="1527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resolution, query assembly, sandbox run — no model involved.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4572000" y="3593592"/>
            <a:ext cx="226466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/>
          <p:nvPr/>
        </p:nvSpPr>
        <p:spPr>
          <a:xfrm>
            <a:off x="4709160" y="3703320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9</a:t>
            </a:r>
            <a:endParaRPr lang="en-US" sz="1800" dirty="0"/>
          </a:p>
        </p:txBody>
      </p:sp>
      <p:sp>
        <p:nvSpPr>
          <p:cNvPr id="45" name="Text 38"/>
          <p:cNvSpPr/>
          <p:nvPr/>
        </p:nvSpPr>
        <p:spPr>
          <a:xfrm>
            <a:off x="4709160" y="4160520"/>
            <a:ext cx="1990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steps touch a model at all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7019544" y="3593592"/>
            <a:ext cx="226466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/>
          <p:nvPr/>
        </p:nvSpPr>
        <p:spPr>
          <a:xfrm>
            <a:off x="7156704" y="3703320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48" name="Text 41"/>
          <p:cNvSpPr/>
          <p:nvPr/>
        </p:nvSpPr>
        <p:spPr>
          <a:xfrm>
            <a:off x="7156704" y="4160520"/>
            <a:ext cx="1990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requiring deep reasoning or multi-step planning</a:t>
            </a:r>
            <a:endParaRPr lang="en-US" sz="950" dirty="0"/>
          </a:p>
        </p:txBody>
      </p:sp>
      <p:sp>
        <p:nvSpPr>
          <p:cNvPr id="49" name="Shape 42"/>
          <p:cNvSpPr/>
          <p:nvPr/>
        </p:nvSpPr>
        <p:spPr>
          <a:xfrm>
            <a:off x="9467088" y="3593592"/>
            <a:ext cx="226466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/>
          <p:nvPr/>
        </p:nvSpPr>
        <p:spPr>
          <a:xfrm>
            <a:off x="9604248" y="3703320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~$0.002</a:t>
            </a:r>
            <a:endParaRPr lang="en-US" sz="1800" dirty="0"/>
          </a:p>
        </p:txBody>
      </p:sp>
      <p:sp>
        <p:nvSpPr>
          <p:cNvPr id="51" name="Text 44"/>
          <p:cNvSpPr/>
          <p:nvPr/>
        </p:nvSpPr>
        <p:spPr>
          <a:xfrm>
            <a:off x="9604248" y="4160520"/>
            <a:ext cx="1990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cost per request at cheap-tier pricing</a:t>
            </a:r>
            <a:endParaRPr lang="en-US" sz="950" dirty="0"/>
          </a:p>
        </p:txBody>
      </p:sp>
      <p:sp>
        <p:nvSpPr>
          <p:cNvPr id="52" name="Shape 45"/>
          <p:cNvSpPr/>
          <p:nvPr/>
        </p:nvSpPr>
        <p:spPr>
          <a:xfrm>
            <a:off x="4572000" y="4837176"/>
            <a:ext cx="7159752" cy="1600200"/>
          </a:xfrm>
          <a:prstGeom prst="rect">
            <a:avLst/>
          </a:prstGeom>
          <a:solidFill>
            <a:srgbClr val="EEEF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3168" y="4910328"/>
            <a:ext cx="329184" cy="329184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5230368" y="48920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GATE — UNCHANGED REGARDLESS OF MODEL</a:t>
            </a:r>
            <a:endParaRPr lang="en-US" sz="1250" dirty="0"/>
          </a:p>
        </p:txBody>
      </p:sp>
      <p:sp>
        <p:nvSpPr>
          <p:cNvPr id="55" name="Text 47"/>
          <p:cNvSpPr/>
          <p:nvPr/>
        </p:nvSpPr>
        <p:spPr>
          <a:xfrm>
            <a:off x="4773168" y="5294376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3B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is a capped sandbox run against real data, not “read the generated query.” Stakeholders judge real sample rows before full production execution — mandatory no matter how capable the model gets.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3B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38404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WSD Data Access Co-Pilot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29768" y="11704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slow this down vs what could cap it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1783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CHALLENGING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039112"/>
            <a:ext cx="33375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identifiers (e.g. wafer test filenames) encode 6-7 fields in one string. Decoding them requires the SMEs who hold that knowledge today — it blocks everything downstream.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3209544"/>
            <a:ext cx="54864" cy="1271016"/>
          </a:xfrm>
          <a:prstGeom prst="rect">
            <a:avLst/>
          </a:prstGeom>
          <a:solidFill>
            <a:srgbClr val="007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32095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RISKY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3465576"/>
            <a:ext cx="30632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a fast, low-cost model is accurate enough for classify + extract hasn't been benchmarked against real historical queries yet — the whole narrow-scope design rests on that holding up.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4617720"/>
            <a:ext cx="54864" cy="859536"/>
          </a:xfrm>
          <a:prstGeom prst="rect">
            <a:avLst/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46177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CAPS THE DAMAGE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487375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mandatory sandbox-run gate — a wrong classification produces a bad sample, not a bad production run.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562356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3B4652"/>
          </a:solidFill>
          <a:ln w="12700">
            <a:solidFill>
              <a:srgbClr val="009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8368" y="57424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decision — SME time + model benchmark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0" y="256032"/>
            <a:ext cx="7159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vs RISK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4572000" y="694944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is an engineering cost we can plan for.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0" y="987552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is an assumption we haven't measured yet.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0" y="1591056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067044" y="1755648"/>
            <a:ext cx="512064" cy="512064"/>
          </a:xfrm>
          <a:prstGeom prst="ellipse">
            <a:avLst/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772" y="1865376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645152" y="2377440"/>
            <a:ext cx="3355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Identifier Decoding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4645152" y="2798064"/>
            <a:ext cx="3355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SME documentation effort, on the critical path for parameter resolution. Solvable with time and the right people.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8074152" y="2327148"/>
            <a:ext cx="155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8229600" y="1591056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CC0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9724644" y="17556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4372" y="1865376"/>
            <a:ext cx="292608" cy="29260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302752" y="2377440"/>
            <a:ext cx="3355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Unvalidated Model-Tier Assumption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8302752" y="2798064"/>
            <a:ext cx="3355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V1's narrow scope assumes a cheap model is accurate enough for classify + extract. Lower real accuracy raises escalation volume and erodes the “minutes not days” value.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4572000" y="3593592"/>
            <a:ext cx="226466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4709160" y="3703320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</a:t>
            </a:r>
            <a:endParaRPr lang="en-US" sz="1800" dirty="0"/>
          </a:p>
        </p:txBody>
      </p:sp>
      <p:sp>
        <p:nvSpPr>
          <p:cNvPr id="33" name="Text 28"/>
          <p:cNvSpPr/>
          <p:nvPr/>
        </p:nvSpPr>
        <p:spPr>
          <a:xfrm>
            <a:off x="4709160" y="4160520"/>
            <a:ext cx="1990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documentation pass needed, once, per domain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7019544" y="3593592"/>
            <a:ext cx="226466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7156704" y="3703320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  <a:endParaRPr lang="en-US" sz="1800" dirty="0"/>
          </a:p>
        </p:txBody>
      </p:sp>
      <p:sp>
        <p:nvSpPr>
          <p:cNvPr id="36" name="Text 31"/>
          <p:cNvSpPr/>
          <p:nvPr/>
        </p:nvSpPr>
        <p:spPr>
          <a:xfrm>
            <a:off x="7156704" y="4160520"/>
            <a:ext cx="1990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accuracy of the chosen model tier — not yet benchmarked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9467088" y="3593592"/>
            <a:ext cx="226466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9604248" y="3703320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hundred</a:t>
            </a:r>
            <a:endParaRPr lang="en-US" sz="1800" dirty="0"/>
          </a:p>
        </p:txBody>
      </p:sp>
      <p:sp>
        <p:nvSpPr>
          <p:cNvPr id="39" name="Text 34"/>
          <p:cNvSpPr/>
          <p:nvPr/>
        </p:nvSpPr>
        <p:spPr>
          <a:xfrm>
            <a:off x="9604248" y="4160520"/>
            <a:ext cx="1990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catalog size, pending full dedup of the 40k+ log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4572000" y="4837176"/>
            <a:ext cx="7159752" cy="1600200"/>
          </a:xfrm>
          <a:prstGeom prst="rect">
            <a:avLst/>
          </a:prstGeom>
          <a:solidFill>
            <a:srgbClr val="EEEF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4910328"/>
            <a:ext cx="329184" cy="329184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230368" y="48920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</a:t>
            </a:r>
            <a:endParaRPr lang="en-US" sz="1250" dirty="0"/>
          </a:p>
        </p:txBody>
      </p:sp>
      <p:sp>
        <p:nvSpPr>
          <p:cNvPr id="43" name="Text 37"/>
          <p:cNvSpPr/>
          <p:nvPr/>
        </p:nvSpPr>
        <p:spPr>
          <a:xfrm>
            <a:off x="4773168" y="5294376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3B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the chosen model tier against a held-out slice of the golden-query corpus before committing to a v1 timeline — this number determines whether the target catalog size is realistic or the per-domain candidate list needs to be narrower.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3B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7607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38404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WSD Data Access Co-Pilot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29768" y="11704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decision record: build the matching layer on our own APIs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1783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OPTION CONSIDERED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039112"/>
            <a:ext cx="3337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Semantic-layer / NL-to-SQL products — Snowflake Cortex Analyst, dbt Semantic Layer, Cube.dev — buy instead of build.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825496"/>
            <a:ext cx="54864" cy="1271016"/>
          </a:xfrm>
          <a:prstGeom prst="rect">
            <a:avLst/>
          </a:prstGeom>
          <a:solidFill>
            <a:srgbClr val="007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28254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BUY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3081528"/>
            <a:ext cx="30632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emit SQL against warehouse tables, a different target than our API-calling surface. Buying one still leaves the NL-to-API integration to build from scratch.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4233672"/>
            <a:ext cx="54864" cy="1042416"/>
          </a:xfrm>
          <a:prstGeom prst="rect">
            <a:avLst/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42336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REUSE INSTEAD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4489704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data-access APIs already encode the deterministic business logic. That's the expensive part — and it's already built.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562356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3B4652"/>
          </a:solidFill>
          <a:ln w="12700">
            <a:solidFill>
              <a:srgbClr val="009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8368" y="57424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9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— Build, confirmed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0" y="256032"/>
            <a:ext cx="7159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 — BUY vs BUILD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4572000" y="694944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reasons point the same way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0" y="987552"/>
            <a:ext cx="715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reason alone would be enough on its own.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0" y="1591056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067044" y="1755648"/>
            <a:ext cx="512064" cy="512064"/>
          </a:xfrm>
          <a:prstGeom prst="ellipse">
            <a:avLst/>
          </a:prstGeom>
          <a:solidFill>
            <a:srgbClr val="0098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772" y="1865376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645152" y="2377440"/>
            <a:ext cx="3355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Buy: Semantic-Layer Product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4645152" y="2798064"/>
            <a:ext cx="3355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SQL against a warehouse — a different target than our API-calling surface. Doesn't speak our API dialect.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8074152" y="2327148"/>
            <a:ext cx="155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8229600" y="1591056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007B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9724644" y="175564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4372" y="1865376"/>
            <a:ext cx="292608" cy="29260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302752" y="2377440"/>
            <a:ext cx="3355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Build: Catalog Match on Our APIs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8302752" y="2798064"/>
            <a:ext cx="3355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E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into a known catalog, call our existing APIs directly. Reuses deterministic logic already in production.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4572000" y="3593592"/>
            <a:ext cx="226466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4709160" y="3703320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28"/>
          <p:cNvSpPr/>
          <p:nvPr/>
        </p:nvSpPr>
        <p:spPr>
          <a:xfrm>
            <a:off x="4709160" y="4160520"/>
            <a:ext cx="1990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dialect the system must speak — ours, not generic SQL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7019544" y="3593592"/>
            <a:ext cx="226466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7156704" y="3703320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36" name="Text 31"/>
          <p:cNvSpPr/>
          <p:nvPr/>
        </p:nvSpPr>
        <p:spPr>
          <a:xfrm>
            <a:off x="7156704" y="4160520"/>
            <a:ext cx="1990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semantic-layer vendors that speak our APIs' query dialect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9467088" y="3593592"/>
            <a:ext cx="226466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EEF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9604248" y="3703320"/>
            <a:ext cx="1990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gDB</a:t>
            </a:r>
            <a:endParaRPr lang="en-US" sz="1800" dirty="0"/>
          </a:p>
        </p:txBody>
      </p:sp>
      <p:sp>
        <p:nvSpPr>
          <p:cNvPr id="39" name="Text 34"/>
          <p:cNvSpPr/>
          <p:nvPr/>
        </p:nvSpPr>
        <p:spPr>
          <a:xfrm>
            <a:off x="9604248" y="4160520"/>
            <a:ext cx="1990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exception — graph/lineage queries need their own adapter either way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4572000" y="4837176"/>
            <a:ext cx="7159752" cy="1600200"/>
          </a:xfrm>
          <a:prstGeom prst="rect">
            <a:avLst/>
          </a:prstGeom>
          <a:solidFill>
            <a:srgbClr val="EEEF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4910328"/>
            <a:ext cx="329184" cy="329184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230368" y="48920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0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 WE KEEP FROM “BUY” THINKING</a:t>
            </a:r>
            <a:endParaRPr lang="en-US" sz="1250" dirty="0"/>
          </a:p>
        </p:txBody>
      </p:sp>
      <p:sp>
        <p:nvSpPr>
          <p:cNvPr id="43" name="Text 37"/>
          <p:cNvSpPr/>
          <p:nvPr/>
        </p:nvSpPr>
        <p:spPr>
          <a:xfrm>
            <a:off x="4773168" y="5294376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3B46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catalog + LLM restricted to selecting from it + deterministic compiler underneath — that's exactly how these products work internally. We apply the same pattern to our own API layer instead of paying for it to be applied to a warehouse we're not centered 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1677</Words>
  <Application>Microsoft Macintosh PowerPoint</Application>
  <PresentationFormat>Widescreen</PresentationFormat>
  <Paragraphs>207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Han Yu</cp:lastModifiedBy>
  <cp:revision>2</cp:revision>
  <dcterms:created xsi:type="dcterms:W3CDTF">2026-09-06T02:31:40Z</dcterms:created>
  <dcterms:modified xsi:type="dcterms:W3CDTF">2026-09-06T07:33:37Z</dcterms:modified>
</cp:coreProperties>
</file>